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66" r:id="rId3"/>
    <p:sldId id="265" r:id="rId4"/>
    <p:sldId id="267" r:id="rId5"/>
    <p:sldId id="268" r:id="rId6"/>
    <p:sldId id="269" r:id="rId7"/>
    <p:sldId id="270" r:id="rId8"/>
    <p:sldId id="271" r:id="rId9"/>
    <p:sldId id="272" r:id="rId10"/>
    <p:sldId id="274" r:id="rId11"/>
    <p:sldId id="275" r:id="rId12"/>
    <p:sldId id="276" r:id="rId13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DDB60-9F1C-EDF7-4AB3-9ADC93209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255479-3892-DB1A-8DE2-DD187BDCD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4AD299-185A-3142-F4EA-5B488198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ED2F4C-6D2F-F080-CF5C-268CE91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A19B84-239D-3CFF-F609-FD239FE7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3201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7A7A3-E74D-F9B9-FED4-2886B00B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A8683-E950-01E5-4CC5-04EC13004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B4491A-CB55-3151-398C-551D0412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743870-35C8-E02A-E8E0-F15A298E5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712440-94C6-EAE4-1D02-314DF270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161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91676-FBA4-B604-C395-57FF6552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84E330-8D4D-7CF0-C1F0-BABED57BF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F3E133-57A8-2F53-C208-71583CCF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3A4DBB-C9DD-5982-5435-26A2A23E8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7F7898-C5FD-7173-E046-8FE76637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696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EA2D3-1B5E-C75A-51E4-EAE985BF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4E8829-78F3-D198-61DF-1F4DD1C1E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1073C5-6D48-B766-405F-FA305D831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53A5DE-8C81-4BBA-6D1D-47CBF7ABC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3A98B2-0572-AB48-5324-789A2E95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3F2FCB-45F3-758B-9286-ECDACC19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3709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39EEA-6BB5-984C-B2F8-FDB0C911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45F838-438C-15A2-A692-B8F2985EA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52061F-D32E-94C5-60F0-830F380A5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D1ABCF-A98E-43BB-90DC-3DF74B2F3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E10AE1-3425-E776-3E1A-D6D5C4509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C87161-81D6-11A7-B729-C116699EB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EFC481-F754-A387-EE5E-D0D9BF0A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E12DD3-20DF-7849-97AA-8D175E7F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66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64293-5582-60DE-0D07-85279E4A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82C14D-E8B7-44D1-C26E-8C74F6E9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FDDC61-5D4E-0B82-2C14-27B8529F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D80ABA9-943D-AC69-A7C9-A6472918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735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74BB6F-7612-A99B-F47E-59863716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773EE7-07F2-BF30-826B-3C3EAB6A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D0D430-8A9C-5028-D2E2-2CFA3BB0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47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4E00C-3988-E96E-A4F9-DF28B4C7B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124AD1-408A-E34C-56B3-98E7136C0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7023F3-2ADD-692E-1377-CD4858716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EF1D82-B947-A1A8-D74B-9920C771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BEFBB9-C390-3E99-9ADD-2128C7FE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F32125-2B7F-7872-A3F6-594B1CA7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7358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D6864-16B8-BCF6-A8A0-20445BB3F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6B823FD-7B2F-A4CB-BF20-9F8006B65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67F621-25D9-124D-62F6-C2CE8DB0E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0B3BF1-13B0-118C-CE7E-1E0BA7836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6FE1FE-39E0-AE10-2BDC-ED02CDD9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34D2FF-D976-8925-FB3B-13BA9011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874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6B129-0EE3-A39A-443D-B2E7D02A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EC4EB0-457E-691B-BD52-2A8CBA45B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C2FF15-A5A3-D3DC-7236-99BA08E5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06AA-0AEC-0F7B-68EA-CF3E0042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E4B1E9-303D-1E38-7623-EB8FBDFE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001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3642B6-BF88-F82C-F105-0C687C729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B0B365-A046-3AEC-F96E-D25BBA8B2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DF0163-54B1-1569-F397-068FFB6F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0DCD99-BC35-1BF8-60EB-FC137658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5B0A23-4D23-A9CB-498C-9BBC5286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650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3B781B-FC3E-6032-5B46-3D1830E9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96A2F4-BC4A-0535-5CE1-F613E4660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2DBE8-5392-0FBE-6687-983938875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762235-108A-D8C0-8319-55B07CD57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51E155-7CBD-FCFE-724C-BC8B00A6F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606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aponesbasico.com/abecedario-japones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japonesbasico.com/kanji/%E5%A4%A9" TargetMode="External"/><Relationship Id="rId3" Type="http://schemas.openxmlformats.org/officeDocument/2006/relationships/hyperlink" Target="https://japonesbasico.com/kanji/%E5%B1%B1" TargetMode="External"/><Relationship Id="rId7" Type="http://schemas.openxmlformats.org/officeDocument/2006/relationships/hyperlink" Target="https://japonesbasico.com/kanji/%E5%88%86" TargetMode="External"/><Relationship Id="rId2" Type="http://schemas.openxmlformats.org/officeDocument/2006/relationships/hyperlink" Target="https://japonesbasico.com/kanji/%E5%B0%8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aponesbasico.com/kanji/%E4%BB%8A" TargetMode="External"/><Relationship Id="rId11" Type="http://schemas.openxmlformats.org/officeDocument/2006/relationships/hyperlink" Target="https://japonesbasico.com/kanji/%E6%89%8B" TargetMode="External"/><Relationship Id="rId5" Type="http://schemas.openxmlformats.org/officeDocument/2006/relationships/hyperlink" Target="https://japonesbasico.com/kanji/%E4%B8%AD" TargetMode="External"/><Relationship Id="rId10" Type="http://schemas.openxmlformats.org/officeDocument/2006/relationships/hyperlink" Target="https://japonesbasico.com/kanji/%E5%BF%83" TargetMode="External"/><Relationship Id="rId4" Type="http://schemas.openxmlformats.org/officeDocument/2006/relationships/hyperlink" Target="https://japonesbasico.com/kanji/%E4%B8%8D" TargetMode="External"/><Relationship Id="rId9" Type="http://schemas.openxmlformats.org/officeDocument/2006/relationships/hyperlink" Target="https://japonesbasico.com/kanji/%E5%B0%91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japonesbasico.com/kanji/%E5%A4%96" TargetMode="External"/><Relationship Id="rId3" Type="http://schemas.openxmlformats.org/officeDocument/2006/relationships/hyperlink" Target="https://japonesbasico.com/kanji/%E6%97%A5" TargetMode="External"/><Relationship Id="rId7" Type="http://schemas.openxmlformats.org/officeDocument/2006/relationships/hyperlink" Target="https://japonesbasico.com/kanji/%E5%87%BA" TargetMode="External"/><Relationship Id="rId2" Type="http://schemas.openxmlformats.org/officeDocument/2006/relationships/hyperlink" Target="https://japonesbasico.com/kanji/%E6%96%B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aponesbasico.com/kanji/%E4%B8%96" TargetMode="External"/><Relationship Id="rId11" Type="http://schemas.openxmlformats.org/officeDocument/2006/relationships/hyperlink" Target="https://japonesbasico.com/kanji/%E6%B0%B8" TargetMode="External"/><Relationship Id="rId5" Type="http://schemas.openxmlformats.org/officeDocument/2006/relationships/hyperlink" Target="https://japonesbasico.com/kanji/%E7%8E%8B" TargetMode="External"/><Relationship Id="rId10" Type="http://schemas.openxmlformats.org/officeDocument/2006/relationships/hyperlink" Target="https://japonesbasico.com/kanji/%E6%9C%AA" TargetMode="External"/><Relationship Id="rId4" Type="http://schemas.openxmlformats.org/officeDocument/2006/relationships/hyperlink" Target="https://japonesbasico.com/kanji/%E6%9C%88" TargetMode="External"/><Relationship Id="rId9" Type="http://schemas.openxmlformats.org/officeDocument/2006/relationships/hyperlink" Target="https://japonesbasico.com/kanji/%E6%9C%AC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japonesbasico.com/kanji/%E5%85%89" TargetMode="External"/><Relationship Id="rId3" Type="http://schemas.openxmlformats.org/officeDocument/2006/relationships/hyperlink" Target="https://japonesbasico.com/kanji/%E7%9B%AE" TargetMode="External"/><Relationship Id="rId7" Type="http://schemas.openxmlformats.org/officeDocument/2006/relationships/hyperlink" Target="https://japonesbasico.com/kanji/%E5%85%88" TargetMode="External"/><Relationship Id="rId2" Type="http://schemas.openxmlformats.org/officeDocument/2006/relationships/hyperlink" Target="https://japonesbasico.com/kanji/%E7%94%9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aponesbasico.com/kanji/%E4%BC%9D" TargetMode="External"/><Relationship Id="rId11" Type="http://schemas.openxmlformats.org/officeDocument/2006/relationships/hyperlink" Target="https://japonesbasico.com/kanji/%E5%90%8C" TargetMode="External"/><Relationship Id="rId5" Type="http://schemas.openxmlformats.org/officeDocument/2006/relationships/hyperlink" Target="https://japonesbasico.com/kanji/%E4%BC%9A" TargetMode="External"/><Relationship Id="rId10" Type="http://schemas.openxmlformats.org/officeDocument/2006/relationships/hyperlink" Target="https://japonesbasico.com/kanji/%E5%90%88" TargetMode="External"/><Relationship Id="rId4" Type="http://schemas.openxmlformats.org/officeDocument/2006/relationships/hyperlink" Target="https://japonesbasico.com/kanji/%E7%AB%8B" TargetMode="External"/><Relationship Id="rId9" Type="http://schemas.openxmlformats.org/officeDocument/2006/relationships/hyperlink" Target="https://japonesbasico.com/kanji/%E5%85%A8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japonesbasico.com/kanji/%E6%AD%BB" TargetMode="External"/><Relationship Id="rId3" Type="http://schemas.openxmlformats.org/officeDocument/2006/relationships/hyperlink" Target="https://japonesbasico.com/kanji/%E5%9B%9E" TargetMode="External"/><Relationship Id="rId7" Type="http://schemas.openxmlformats.org/officeDocument/2006/relationships/hyperlink" Target="https://japonesbasico.com/kanji/%E6%97%A9" TargetMode="External"/><Relationship Id="rId2" Type="http://schemas.openxmlformats.org/officeDocument/2006/relationships/hyperlink" Target="https://japonesbasico.com/kanji/%E5%90%8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aponesbasico.com/kanji/%E5%B9%B4" TargetMode="External"/><Relationship Id="rId11" Type="http://schemas.openxmlformats.org/officeDocument/2006/relationships/hyperlink" Target="https://japonesbasico.com/kanji/%E8%87%AA" TargetMode="External"/><Relationship Id="rId5" Type="http://schemas.openxmlformats.org/officeDocument/2006/relationships/hyperlink" Target="https://japonesbasico.com/kanji/%E5%AE%88" TargetMode="External"/><Relationship Id="rId10" Type="http://schemas.openxmlformats.org/officeDocument/2006/relationships/hyperlink" Target="https://japonesbasico.com/kanji/%E8%80%83" TargetMode="External"/><Relationship Id="rId4" Type="http://schemas.openxmlformats.org/officeDocument/2006/relationships/hyperlink" Target="https://japonesbasico.com/kanji/%E5%A5%BD" TargetMode="External"/><Relationship Id="rId9" Type="http://schemas.openxmlformats.org/officeDocument/2006/relationships/hyperlink" Target="https://japonesbasico.com/kanji/%E6%B0%97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japonesbasico.com/kanji/%E5%90%9B" TargetMode="External"/><Relationship Id="rId3" Type="http://schemas.openxmlformats.org/officeDocument/2006/relationships/hyperlink" Target="https://japonesbasico.com/kanji/%E8%A1%8C" TargetMode="External"/><Relationship Id="rId7" Type="http://schemas.openxmlformats.org/officeDocument/2006/relationships/hyperlink" Target="https://japonesbasico.com/kanji/%E5%88%9D" TargetMode="External"/><Relationship Id="rId2" Type="http://schemas.openxmlformats.org/officeDocument/2006/relationships/hyperlink" Target="https://japonesbasico.com/kanji/%E8%89%B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aponesbasico.com/kanji/%E4%BD%9C" TargetMode="External"/><Relationship Id="rId11" Type="http://schemas.openxmlformats.org/officeDocument/2006/relationships/hyperlink" Target="https://japonesbasico.com/kanji/%E6%9D%A5" TargetMode="External"/><Relationship Id="rId5" Type="http://schemas.openxmlformats.org/officeDocument/2006/relationships/hyperlink" Target="https://japonesbasico.com/kanji/%E4%BD%95" TargetMode="External"/><Relationship Id="rId10" Type="http://schemas.openxmlformats.org/officeDocument/2006/relationships/hyperlink" Target="https://japonesbasico.com/kanji/%E5%BF%98" TargetMode="External"/><Relationship Id="rId4" Type="http://schemas.openxmlformats.org/officeDocument/2006/relationships/hyperlink" Target="https://japonesbasico.com/kanji/%E4%BD%93" TargetMode="External"/><Relationship Id="rId9" Type="http://schemas.openxmlformats.org/officeDocument/2006/relationships/hyperlink" Target="https://japonesbasico.com/kanji/%E5%A3%B0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japonesbasico.com/kanji/%E8%B6%B3" TargetMode="External"/><Relationship Id="rId3" Type="http://schemas.openxmlformats.org/officeDocument/2006/relationships/hyperlink" Target="https://japonesbasico.com/kanji/%E7%A7%81" TargetMode="External"/><Relationship Id="rId7" Type="http://schemas.openxmlformats.org/officeDocument/2006/relationships/hyperlink" Target="https://japonesbasico.com/kanji/%E8%B5%B0" TargetMode="External"/><Relationship Id="rId2" Type="http://schemas.openxmlformats.org/officeDocument/2006/relationships/hyperlink" Target="https://japonesbasico.com/kanji/%E7%94%B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aponesbasico.com/kanji/%E8%A8%80" TargetMode="External"/><Relationship Id="rId11" Type="http://schemas.openxmlformats.org/officeDocument/2006/relationships/hyperlink" Target="https://japonesbasico.com/kanji/%E4%BA%8B" TargetMode="External"/><Relationship Id="rId5" Type="http://schemas.openxmlformats.org/officeDocument/2006/relationships/hyperlink" Target="https://japonesbasico.com/kanji/%E8%A6%8B" TargetMode="External"/><Relationship Id="rId10" Type="http://schemas.openxmlformats.org/officeDocument/2006/relationships/hyperlink" Target="https://japonesbasico.com/kanji/%E8%BF%91" TargetMode="External"/><Relationship Id="rId4" Type="http://schemas.openxmlformats.org/officeDocument/2006/relationships/hyperlink" Target="https://japonesbasico.com/kanji/%E8%8A%B1" TargetMode="External"/><Relationship Id="rId9" Type="http://schemas.openxmlformats.org/officeDocument/2006/relationships/hyperlink" Target="https://japonesbasico.com/kanji/%E8%BA%AB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japonesbasico.com/kanji/%E5%A7%8B" TargetMode="External"/><Relationship Id="rId3" Type="http://schemas.openxmlformats.org/officeDocument/2006/relationships/hyperlink" Target="https://japonesbasico.com/kanji/%E5%8F%96" TargetMode="External"/><Relationship Id="rId7" Type="http://schemas.openxmlformats.org/officeDocument/2006/relationships/hyperlink" Target="https://japonesbasico.com/kanji/%E5%A4%9C" TargetMode="External"/><Relationship Id="rId2" Type="http://schemas.openxmlformats.org/officeDocument/2006/relationships/hyperlink" Target="https://japonesbasico.com/kanji/%E4%BD%B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aponesbasico.com/kanji/%E5%9B%BD" TargetMode="External"/><Relationship Id="rId11" Type="http://schemas.openxmlformats.org/officeDocument/2006/relationships/hyperlink" Target="https://japonesbasico.com/kanji/%E5%B1%8A" TargetMode="External"/><Relationship Id="rId5" Type="http://schemas.openxmlformats.org/officeDocument/2006/relationships/hyperlink" Target="https://japonesbasico.com/kanji/%E5%91%BD" TargetMode="External"/><Relationship Id="rId10" Type="http://schemas.openxmlformats.org/officeDocument/2006/relationships/hyperlink" Target="https://japonesbasico.com/kanji/%E5%AE%9F" TargetMode="External"/><Relationship Id="rId4" Type="http://schemas.openxmlformats.org/officeDocument/2006/relationships/hyperlink" Target="https://japonesbasico.com/kanji/%E5%91%B3" TargetMode="External"/><Relationship Id="rId9" Type="http://schemas.openxmlformats.org/officeDocument/2006/relationships/hyperlink" Target="https://japonesbasico.com/kanji/%E5%AD%A6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D5C20-2408-D0E7-B0D2-EFF3182D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AD7A61E-4DF3-54B9-C159-F895932EF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130789"/>
              </p:ext>
            </p:extLst>
          </p:nvPr>
        </p:nvGraphicFramePr>
        <p:xfrm>
          <a:off x="0" y="0"/>
          <a:ext cx="5693248" cy="54140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René Silva 20251126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61E5284-BC7A-7D78-A940-5896A1AD80B9}"/>
              </a:ext>
            </a:extLst>
          </p:cNvPr>
          <p:cNvSpPr txBox="1"/>
          <p:nvPr/>
        </p:nvSpPr>
        <p:spPr>
          <a:xfrm>
            <a:off x="3048000" y="32252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>
                <a:effectLst/>
              </a:rPr>
              <a:t>Listado de Palabras comunes con el kanji</a:t>
            </a:r>
            <a:endParaRPr lang="es-CL" sz="1800" dirty="0"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F7EB6E-E8AA-7917-EF36-5BCC376DBEDA}"/>
              </a:ext>
            </a:extLst>
          </p:cNvPr>
          <p:cNvSpPr txBox="1"/>
          <p:nvPr/>
        </p:nvSpPr>
        <p:spPr>
          <a:xfrm>
            <a:off x="3048000" y="24918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L" sz="1800" b="1" dirty="0">
                <a:effectLst/>
              </a:rPr>
              <a:t>175 Kanji</a:t>
            </a:r>
            <a:endParaRPr lang="es-CL" sz="1800" dirty="0">
              <a:effectLst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F164710-6B94-4FD0-F41A-F666CDBECDCC}"/>
              </a:ext>
            </a:extLst>
          </p:cNvPr>
          <p:cNvSpPr txBox="1"/>
          <p:nvPr/>
        </p:nvSpPr>
        <p:spPr>
          <a:xfrm>
            <a:off x="1826098" y="86034"/>
            <a:ext cx="4117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hlinkClick r:id="rId2"/>
              </a:rPr>
              <a:t>Abecedario japonés – Japonés Básico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37816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3EC24-10A2-A955-17C5-E9BB3FA6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5B35B6A-3F56-C6F9-595B-625264F9E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063448"/>
              </p:ext>
            </p:extLst>
          </p:nvPr>
        </p:nvGraphicFramePr>
        <p:xfrm>
          <a:off x="0" y="0"/>
          <a:ext cx="5693249" cy="6418320"/>
        </p:xfrm>
        <a:graphic>
          <a:graphicData uri="http://schemas.openxmlformats.org/drawingml/2006/table">
            <a:tbl>
              <a:tblPr/>
              <a:tblGrid>
                <a:gridCol w="1466257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  <a:tr h="8595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一</a:t>
                      </a: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uno</a:t>
                      </a:r>
                    </a:p>
                  </a:txBody>
                  <a:tcPr marL="11192" marR="11192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一つ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hitotsu</a:t>
                      </a:r>
                      <a:r>
                        <a:rPr lang="es-CL" sz="1600" dirty="0">
                          <a:effectLst/>
                        </a:rPr>
                        <a:t>) uno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一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ichi</a:t>
                      </a:r>
                      <a:r>
                        <a:rPr lang="es-CL" sz="1600" dirty="0">
                          <a:effectLst/>
                        </a:rPr>
                        <a:t>) uno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一番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ichiban</a:t>
                      </a:r>
                      <a:r>
                        <a:rPr lang="es-CL" sz="1600" dirty="0">
                          <a:effectLst/>
                        </a:rPr>
                        <a:t>) mejor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一人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hitori</a:t>
                      </a:r>
                      <a:r>
                        <a:rPr lang="es-CL" sz="1600" dirty="0">
                          <a:effectLst/>
                        </a:rPr>
                        <a:t>) una persona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195218"/>
                  </a:ext>
                </a:extLst>
              </a:tr>
              <a:tr h="85952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二</a:t>
                      </a: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dos</a:t>
                      </a:r>
                    </a:p>
                  </a:txBody>
                  <a:tcPr marL="11192" marR="11192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二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>
                          <a:effectLst/>
                        </a:rPr>
                        <a:t>ni</a:t>
                      </a:r>
                      <a:r>
                        <a:rPr lang="es-CL" sz="1600" dirty="0">
                          <a:effectLst/>
                        </a:rPr>
                        <a:t>) dos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二人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futari</a:t>
                      </a:r>
                      <a:r>
                        <a:rPr lang="es-CL" sz="1600" dirty="0">
                          <a:effectLst/>
                        </a:rPr>
                        <a:t>) dos personas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二つ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futatsu</a:t>
                      </a:r>
                      <a:r>
                        <a:rPr lang="es-CL" sz="1600" dirty="0">
                          <a:effectLst/>
                        </a:rPr>
                        <a:t>) 2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第二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daini</a:t>
                      </a:r>
                      <a:r>
                        <a:rPr lang="es-CL" sz="1600" dirty="0">
                          <a:effectLst/>
                        </a:rPr>
                        <a:t>) segundo ~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70734"/>
                  </a:ext>
                </a:extLst>
              </a:tr>
              <a:tr h="85952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人</a:t>
                      </a: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persona</a:t>
                      </a:r>
                    </a:p>
                  </a:txBody>
                  <a:tcPr marL="11192" marR="11192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anose="020B0604030504040204" pitchFamily="2" charset="-128"/>
                        </a:rPr>
                        <a:t>人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hito</a:t>
                      </a:r>
                      <a:r>
                        <a:rPr lang="es-CL" sz="1600">
                          <a:effectLst/>
                        </a:rPr>
                        <a:t>) persona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anose="020B0604030504040204" pitchFamily="2" charset="-128"/>
                        </a:rPr>
                        <a:t>人間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ningen</a:t>
                      </a:r>
                      <a:r>
                        <a:rPr lang="es-CL" sz="1600">
                          <a:effectLst/>
                        </a:rPr>
                        <a:t>) ser humano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anose="020B0604030504040204" pitchFamily="2" charset="-128"/>
                        </a:rPr>
                        <a:t>人生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jinsei</a:t>
                      </a:r>
                      <a:r>
                        <a:rPr lang="es-CL" sz="1600">
                          <a:effectLst/>
                        </a:rPr>
                        <a:t>) vida humana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anose="020B0604030504040204" pitchFamily="2" charset="-128"/>
                        </a:rPr>
                        <a:t>日本人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nihonjin</a:t>
                      </a:r>
                      <a:r>
                        <a:rPr lang="es-CL" sz="1600">
                          <a:effectLst/>
                        </a:rPr>
                        <a:t>) persona japonesa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375581"/>
                  </a:ext>
                </a:extLst>
              </a:tr>
              <a:tr h="85952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力</a:t>
                      </a: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fuerza</a:t>
                      </a:r>
                    </a:p>
                  </a:txBody>
                  <a:tcPr marL="11192" marR="11192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anose="020B0604030504040204" pitchFamily="2" charset="-128"/>
                        </a:rPr>
                        <a:t>力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chikara</a:t>
                      </a:r>
                      <a:r>
                        <a:rPr lang="es-CL" sz="1600">
                          <a:effectLst/>
                        </a:rPr>
                        <a:t>) fuerza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anose="020B0604030504040204" pitchFamily="2" charset="-128"/>
                        </a:rPr>
                        <a:t>努力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doryoku</a:t>
                      </a:r>
                      <a:r>
                        <a:rPr lang="es-CL" sz="1600">
                          <a:effectLst/>
                        </a:rPr>
                        <a:t>) gran esfuerzo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anose="020B0604030504040204" pitchFamily="2" charset="-128"/>
                        </a:rPr>
                        <a:t>協力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kyōryoku</a:t>
                      </a:r>
                      <a:r>
                        <a:rPr lang="es-CL" sz="1600">
                          <a:effectLst/>
                        </a:rPr>
                        <a:t>) cooperación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anose="020B0604030504040204" pitchFamily="2" charset="-128"/>
                        </a:rPr>
                        <a:t>能力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nōryoku</a:t>
                      </a:r>
                      <a:r>
                        <a:rPr lang="es-CL" sz="1600">
                          <a:effectLst/>
                        </a:rPr>
                        <a:t>) habilidad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2524"/>
                  </a:ext>
                </a:extLst>
              </a:tr>
              <a:tr h="6983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上</a:t>
                      </a: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arriba</a:t>
                      </a:r>
                    </a:p>
                  </a:txBody>
                  <a:tcPr marL="11192" marR="11192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上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ue</a:t>
                      </a:r>
                      <a:r>
                        <a:rPr lang="es-CL" sz="1600" dirty="0">
                          <a:effectLst/>
                        </a:rPr>
                        <a:t>) arriba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以上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ijō</a:t>
                      </a:r>
                      <a:r>
                        <a:rPr lang="es-CL" sz="1600" dirty="0">
                          <a:effectLst/>
                        </a:rPr>
                        <a:t>) nada menos que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上がる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agaru</a:t>
                      </a:r>
                      <a:r>
                        <a:rPr lang="es-CL" sz="1600" dirty="0">
                          <a:effectLst/>
                        </a:rPr>
                        <a:t>) entrar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anose="020B0604030504040204" pitchFamily="2" charset="-128"/>
                        </a:rPr>
                        <a:t>申し上げる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mōshiageru</a:t>
                      </a:r>
                      <a:r>
                        <a:rPr lang="es-CL" sz="1600" dirty="0">
                          <a:effectLst/>
                        </a:rPr>
                        <a:t>) decir a alguien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065311"/>
                  </a:ext>
                </a:extLst>
              </a:tr>
            </a:tbl>
          </a:graphicData>
        </a:graphic>
      </p:graphicFrame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6A4B1FA-6815-D709-B542-6C2E4EF7D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827624"/>
              </p:ext>
            </p:extLst>
          </p:nvPr>
        </p:nvGraphicFramePr>
        <p:xfrm>
          <a:off x="5693249" y="283610"/>
          <a:ext cx="6498751" cy="6134710"/>
        </p:xfrm>
        <a:graphic>
          <a:graphicData uri="http://schemas.openxmlformats.org/drawingml/2006/table">
            <a:tbl>
              <a:tblPr/>
              <a:tblGrid>
                <a:gridCol w="1518400">
                  <a:extLst>
                    <a:ext uri="{9D8B030D-6E8A-4147-A177-3AD203B41FA5}">
                      <a16:colId xmlns:a16="http://schemas.microsoft.com/office/drawing/2014/main" val="3334627429"/>
                    </a:ext>
                  </a:extLst>
                </a:gridCol>
                <a:gridCol w="4980351">
                  <a:extLst>
                    <a:ext uri="{9D8B030D-6E8A-4147-A177-3AD203B41FA5}">
                      <a16:colId xmlns:a16="http://schemas.microsoft.com/office/drawing/2014/main" val="878028328"/>
                    </a:ext>
                  </a:extLst>
                </a:gridCol>
              </a:tblGrid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下</a:t>
                      </a: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abajo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shita</a:t>
                      </a:r>
                      <a:r>
                        <a:rPr lang="es-CL" sz="1600" dirty="0">
                          <a:effectLst/>
                        </a:rPr>
                        <a:t>) debajo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下りる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oriru</a:t>
                      </a:r>
                      <a:r>
                        <a:rPr lang="es-CL" sz="1600" dirty="0">
                          <a:effectLst/>
                        </a:rPr>
                        <a:t>) bajarse de un vehículo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以下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ika</a:t>
                      </a:r>
                      <a:r>
                        <a:rPr lang="es-CL" sz="1600" dirty="0">
                          <a:effectLst/>
                        </a:rPr>
                        <a:t>) no exceder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下がる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sagaru</a:t>
                      </a:r>
                      <a:r>
                        <a:rPr lang="es-CL" sz="1600" dirty="0">
                          <a:effectLst/>
                        </a:rPr>
                        <a:t>) colgarse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54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口</a:t>
                      </a: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boca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口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kuchi</a:t>
                      </a:r>
                      <a:r>
                        <a:rPr lang="es-CL" sz="1600" dirty="0">
                          <a:effectLst/>
                        </a:rPr>
                        <a:t>) boca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人口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jinkō</a:t>
                      </a:r>
                      <a:r>
                        <a:rPr lang="es-CL" sz="1600" dirty="0">
                          <a:effectLst/>
                        </a:rPr>
                        <a:t>) población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入り口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iriguchi</a:t>
                      </a:r>
                      <a:r>
                        <a:rPr lang="es-CL" sz="1600" dirty="0">
                          <a:effectLst/>
                        </a:rPr>
                        <a:t>) entrada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口調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kuchō</a:t>
                      </a:r>
                      <a:r>
                        <a:rPr lang="es-CL" sz="1600" dirty="0">
                          <a:effectLst/>
                        </a:rPr>
                        <a:t>) tono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500373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大</a:t>
                      </a: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grande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大きな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ōkina</a:t>
                      </a:r>
                      <a:r>
                        <a:rPr lang="es-CL" sz="1600">
                          <a:effectLst/>
                        </a:rPr>
                        <a:t>) grande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大きい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ōkii</a:t>
                      </a:r>
                      <a:r>
                        <a:rPr lang="es-CL" sz="1600">
                          <a:effectLst/>
                        </a:rPr>
                        <a:t>) grande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大変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taihen</a:t>
                      </a:r>
                      <a:r>
                        <a:rPr lang="es-CL" sz="1600">
                          <a:effectLst/>
                        </a:rPr>
                        <a:t>) muy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大体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daitai</a:t>
                      </a:r>
                      <a:r>
                        <a:rPr lang="es-CL" sz="1600">
                          <a:effectLst/>
                        </a:rPr>
                        <a:t>) más o menos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00834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女</a:t>
                      </a: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mujer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彼女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kanojo</a:t>
                      </a:r>
                      <a:r>
                        <a:rPr lang="es-CL" sz="1600">
                          <a:effectLst/>
                        </a:rPr>
                        <a:t>) ella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女性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josei</a:t>
                      </a:r>
                      <a:r>
                        <a:rPr lang="es-CL" sz="1600">
                          <a:effectLst/>
                        </a:rPr>
                        <a:t>) sexo femenino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女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onna</a:t>
                      </a:r>
                      <a:r>
                        <a:rPr lang="es-CL" sz="1600">
                          <a:effectLst/>
                        </a:rPr>
                        <a:t>) mujer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女の子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onnanoko</a:t>
                      </a:r>
                      <a:r>
                        <a:rPr lang="es-CL" sz="1600">
                          <a:effectLst/>
                        </a:rPr>
                        <a:t>) muchacha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322254"/>
                  </a:ext>
                </a:extLst>
              </a:tr>
              <a:tr h="73464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子</a:t>
                      </a: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niño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子供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kodomo</a:t>
                      </a:r>
                      <a:r>
                        <a:rPr lang="es-CL" sz="1600" dirty="0">
                          <a:effectLst/>
                        </a:rPr>
                        <a:t>) niño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子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ko</a:t>
                      </a:r>
                      <a:r>
                        <a:rPr lang="es-CL" sz="1600" dirty="0">
                          <a:effectLst/>
                        </a:rPr>
                        <a:t>) niño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様子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yōsu</a:t>
                      </a:r>
                      <a:r>
                        <a:rPr lang="es-CL" sz="1600" dirty="0">
                          <a:effectLst/>
                        </a:rPr>
                        <a:t>) aspecto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息子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musuko</a:t>
                      </a:r>
                      <a:r>
                        <a:rPr lang="es-CL" sz="1600" dirty="0">
                          <a:effectLst/>
                        </a:rPr>
                        <a:t>) hijo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271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63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F2CA91C-00FB-42E0-E760-268CC5A84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541230"/>
              </p:ext>
            </p:extLst>
          </p:nvPr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084285B-EBAE-E6C5-B839-45211D2CA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654172"/>
              </p:ext>
            </p:extLst>
          </p:nvPr>
        </p:nvGraphicFramePr>
        <p:xfrm>
          <a:off x="1" y="297560"/>
          <a:ext cx="5693248" cy="6158590"/>
        </p:xfrm>
        <a:graphic>
          <a:graphicData uri="http://schemas.openxmlformats.org/drawingml/2006/table">
            <a:tbl>
              <a:tblPr/>
              <a:tblGrid>
                <a:gridCol w="1330198">
                  <a:extLst>
                    <a:ext uri="{9D8B030D-6E8A-4147-A177-3AD203B41FA5}">
                      <a16:colId xmlns:a16="http://schemas.microsoft.com/office/drawing/2014/main" val="483555211"/>
                    </a:ext>
                  </a:extLst>
                </a:gridCol>
                <a:gridCol w="4363050">
                  <a:extLst>
                    <a:ext uri="{9D8B030D-6E8A-4147-A177-3AD203B41FA5}">
                      <a16:colId xmlns:a16="http://schemas.microsoft.com/office/drawing/2014/main" val="3668810152"/>
                    </a:ext>
                  </a:extLst>
                </a:gridCol>
              </a:tblGrid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小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pequeño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小さい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chīsai</a:t>
                      </a:r>
                      <a:r>
                        <a:rPr lang="es-CL" sz="1600" dirty="0">
                          <a:effectLst/>
                        </a:rPr>
                        <a:t>) pequeño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小さな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chīsana</a:t>
                      </a:r>
                      <a:r>
                        <a:rPr lang="es-CL" sz="1600" dirty="0">
                          <a:effectLst/>
                        </a:rPr>
                        <a:t>) pequeño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小学校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shōgakkō</a:t>
                      </a:r>
                      <a:r>
                        <a:rPr lang="es-CL" sz="1600" dirty="0">
                          <a:effectLst/>
                        </a:rPr>
                        <a:t>) escuela primaria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小説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shōsetsu</a:t>
                      </a:r>
                      <a:r>
                        <a:rPr lang="es-CL" sz="1600" dirty="0">
                          <a:effectLst/>
                        </a:rPr>
                        <a:t>) novela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202505"/>
                  </a:ext>
                </a:extLst>
              </a:tr>
              <a:tr h="61286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山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montaña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山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yama</a:t>
                      </a:r>
                      <a:r>
                        <a:rPr lang="es-CL" sz="1600" dirty="0">
                          <a:effectLst/>
                        </a:rPr>
                        <a:t>) montaña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富士山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fujisan</a:t>
                      </a:r>
                      <a:r>
                        <a:rPr lang="es-CL" sz="1600" dirty="0">
                          <a:effectLst/>
                        </a:rPr>
                        <a:t>) monte Fuji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734743"/>
                  </a:ext>
                </a:extLst>
              </a:tr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不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no ~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不安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fuan</a:t>
                      </a:r>
                      <a:r>
                        <a:rPr lang="es-CL" sz="1600" dirty="0">
                          <a:effectLst/>
                        </a:rPr>
                        <a:t>) ansiedad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不思議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fushigi</a:t>
                      </a:r>
                      <a:r>
                        <a:rPr lang="es-CL" sz="1600" dirty="0">
                          <a:effectLst/>
                        </a:rPr>
                        <a:t>) maravilla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不可能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fukanō</a:t>
                      </a:r>
                      <a:r>
                        <a:rPr lang="es-CL" sz="1600" dirty="0">
                          <a:effectLst/>
                        </a:rPr>
                        <a:t>) imposible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不満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>
                          <a:effectLst/>
                        </a:rPr>
                        <a:t>fuman</a:t>
                      </a:r>
                      <a:r>
                        <a:rPr lang="es-CL" sz="1600" dirty="0">
                          <a:effectLst/>
                        </a:rPr>
                        <a:t>) insatisfacción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927573"/>
                  </a:ext>
                </a:extLst>
              </a:tr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中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centro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中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naka</a:t>
                      </a:r>
                      <a:r>
                        <a:rPr lang="es-CL" sz="1600" dirty="0">
                          <a:effectLst/>
                        </a:rPr>
                        <a:t>) adentro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中心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chūshin</a:t>
                      </a:r>
                      <a:r>
                        <a:rPr lang="es-CL" sz="1600" dirty="0">
                          <a:effectLst/>
                        </a:rPr>
                        <a:t>) centro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中国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chūgoku</a:t>
                      </a:r>
                      <a:r>
                        <a:rPr lang="es-CL" sz="1600" dirty="0">
                          <a:effectLst/>
                        </a:rPr>
                        <a:t>) China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途中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tochū</a:t>
                      </a:r>
                      <a:r>
                        <a:rPr lang="es-CL" sz="1600" dirty="0">
                          <a:effectLst/>
                        </a:rPr>
                        <a:t>) de camino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897496"/>
                  </a:ext>
                </a:extLst>
              </a:tr>
              <a:tr h="79672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今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ahora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今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ima</a:t>
                      </a:r>
                      <a:r>
                        <a:rPr lang="es-CL" sz="1600" dirty="0">
                          <a:effectLst/>
                        </a:rPr>
                        <a:t>) ahora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今日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kyō</a:t>
                      </a:r>
                      <a:r>
                        <a:rPr lang="es-CL" sz="1600" dirty="0">
                          <a:effectLst/>
                        </a:rPr>
                        <a:t>) hoy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今度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>
                          <a:effectLst/>
                        </a:rPr>
                        <a:t>kondo</a:t>
                      </a:r>
                      <a:r>
                        <a:rPr lang="es-CL" sz="1600" dirty="0">
                          <a:effectLst/>
                        </a:rPr>
                        <a:t>) ahora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今回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konkai</a:t>
                      </a:r>
                      <a:r>
                        <a:rPr lang="es-CL" sz="1600" dirty="0">
                          <a:effectLst/>
                        </a:rPr>
                        <a:t>) ahora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1402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30E418A-C9C1-E45C-390F-2DE892F65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689429"/>
              </p:ext>
            </p:extLst>
          </p:nvPr>
        </p:nvGraphicFramePr>
        <p:xfrm>
          <a:off x="5693249" y="297560"/>
          <a:ext cx="6498751" cy="6134710"/>
        </p:xfrm>
        <a:graphic>
          <a:graphicData uri="http://schemas.openxmlformats.org/drawingml/2006/table">
            <a:tbl>
              <a:tblPr/>
              <a:tblGrid>
                <a:gridCol w="1518400">
                  <a:extLst>
                    <a:ext uri="{9D8B030D-6E8A-4147-A177-3AD203B41FA5}">
                      <a16:colId xmlns:a16="http://schemas.microsoft.com/office/drawing/2014/main" val="2462593002"/>
                    </a:ext>
                  </a:extLst>
                </a:gridCol>
                <a:gridCol w="4980351">
                  <a:extLst>
                    <a:ext uri="{9D8B030D-6E8A-4147-A177-3AD203B41FA5}">
                      <a16:colId xmlns:a16="http://schemas.microsoft.com/office/drawing/2014/main" val="2772759740"/>
                    </a:ext>
                  </a:extLst>
                </a:gridCol>
              </a:tblGrid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分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parte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自分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jibun</a:t>
                      </a:r>
                      <a:r>
                        <a:rPr lang="es-CL" sz="1600">
                          <a:effectLst/>
                        </a:rPr>
                        <a:t>) mismo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分かる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wakaru</a:t>
                      </a:r>
                      <a:r>
                        <a:rPr lang="es-CL" sz="1600">
                          <a:effectLst/>
                        </a:rPr>
                        <a:t>) entender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部分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bubun</a:t>
                      </a:r>
                      <a:r>
                        <a:rPr lang="es-CL" sz="1600">
                          <a:effectLst/>
                        </a:rPr>
                        <a:t>) pieza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十分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jūbun</a:t>
                      </a:r>
                      <a:r>
                        <a:rPr lang="es-CL" sz="1600">
                          <a:effectLst/>
                        </a:rPr>
                        <a:t>) suficiente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017963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天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los cielos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天気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tenki</a:t>
                      </a:r>
                      <a:r>
                        <a:rPr lang="es-CL" sz="1600">
                          <a:effectLst/>
                        </a:rPr>
                        <a:t>) clima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天皇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tennō</a:t>
                      </a:r>
                      <a:r>
                        <a:rPr lang="es-CL" sz="1600">
                          <a:effectLst/>
                        </a:rPr>
                        <a:t>) Emperador de Japón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天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ten</a:t>
                      </a:r>
                      <a:r>
                        <a:rPr lang="es-CL" sz="1600">
                          <a:effectLst/>
                        </a:rPr>
                        <a:t>) los Cielos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天井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tenjō</a:t>
                      </a:r>
                      <a:r>
                        <a:rPr lang="es-CL" sz="1600">
                          <a:effectLst/>
                        </a:rPr>
                        <a:t>) techo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28400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少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poco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少し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sukoshi</a:t>
                      </a:r>
                      <a:r>
                        <a:rPr lang="es-CL" sz="1600">
                          <a:effectLst/>
                        </a:rPr>
                        <a:t>) pequeña cantidad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少ない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sukunai</a:t>
                      </a:r>
                      <a:r>
                        <a:rPr lang="es-CL" sz="1600">
                          <a:effectLst/>
                        </a:rPr>
                        <a:t>) poco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少年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shōnen</a:t>
                      </a:r>
                      <a:r>
                        <a:rPr lang="es-CL" sz="1600">
                          <a:effectLst/>
                        </a:rPr>
                        <a:t>) muchacho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多少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tashō</a:t>
                      </a:r>
                      <a:r>
                        <a:rPr lang="es-CL" sz="1600">
                          <a:effectLst/>
                        </a:rPr>
                        <a:t>) cantidad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863993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心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corazón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心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kokoro</a:t>
                      </a:r>
                      <a:r>
                        <a:rPr lang="es-CL" sz="1600">
                          <a:effectLst/>
                        </a:rPr>
                        <a:t>) corazón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心配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shinpai</a:t>
                      </a:r>
                      <a:r>
                        <a:rPr lang="es-CL" sz="1600">
                          <a:effectLst/>
                        </a:rPr>
                        <a:t>) preocupación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関心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kanshin</a:t>
                      </a:r>
                      <a:r>
                        <a:rPr lang="es-CL" sz="1600">
                          <a:effectLst/>
                        </a:rPr>
                        <a:t>) inquietud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安心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anshin</a:t>
                      </a:r>
                      <a:r>
                        <a:rPr lang="es-CL" sz="1600">
                          <a:effectLst/>
                        </a:rPr>
                        <a:t>) alivio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40881"/>
                  </a:ext>
                </a:extLst>
              </a:tr>
              <a:tr h="73464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手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mano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>
                          <a:effectLst/>
                        </a:rPr>
                        <a:t>te</a:t>
                      </a:r>
                      <a:r>
                        <a:rPr lang="es-CL" sz="1600" dirty="0">
                          <a:effectLst/>
                        </a:rPr>
                        <a:t>) mano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相手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aite</a:t>
                      </a:r>
                      <a:r>
                        <a:rPr lang="es-CL" sz="1600" dirty="0">
                          <a:effectLst/>
                        </a:rPr>
                        <a:t>) compañero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手紙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tegami</a:t>
                      </a:r>
                      <a:r>
                        <a:rPr lang="es-CL" sz="1600" dirty="0">
                          <a:effectLst/>
                        </a:rPr>
                        <a:t>) carta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選手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senshu</a:t>
                      </a:r>
                      <a:r>
                        <a:rPr lang="es-CL" sz="1600" dirty="0">
                          <a:effectLst/>
                        </a:rPr>
                        <a:t>) jugador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460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099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32521-0494-49A6-B41B-DDA7DCC5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A9C1254-0446-2AEA-61DA-C0F037CD5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6559"/>
              </p:ext>
            </p:extLst>
          </p:nvPr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6640911-F968-58DB-8BD5-93775AEC9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864478"/>
              </p:ext>
            </p:extLst>
          </p:nvPr>
        </p:nvGraphicFramePr>
        <p:xfrm>
          <a:off x="1" y="297560"/>
          <a:ext cx="5693248" cy="5914750"/>
        </p:xfrm>
        <a:graphic>
          <a:graphicData uri="http://schemas.openxmlformats.org/drawingml/2006/table">
            <a:tbl>
              <a:tblPr/>
              <a:tblGrid>
                <a:gridCol w="1330198">
                  <a:extLst>
                    <a:ext uri="{9D8B030D-6E8A-4147-A177-3AD203B41FA5}">
                      <a16:colId xmlns:a16="http://schemas.microsoft.com/office/drawing/2014/main" val="1958577048"/>
                    </a:ext>
                  </a:extLst>
                </a:gridCol>
                <a:gridCol w="4363050">
                  <a:extLst>
                    <a:ext uri="{9D8B030D-6E8A-4147-A177-3AD203B41FA5}">
                      <a16:colId xmlns:a16="http://schemas.microsoft.com/office/drawing/2014/main" val="2610663364"/>
                    </a:ext>
                  </a:extLst>
                </a:gridCol>
              </a:tblGrid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方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dirección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方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kata</a:t>
                      </a:r>
                      <a:r>
                        <a:rPr lang="es-CL" sz="1600">
                          <a:effectLst/>
                        </a:rPr>
                        <a:t>) dirección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方法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hōhō</a:t>
                      </a:r>
                      <a:r>
                        <a:rPr lang="es-CL" sz="1600">
                          <a:effectLst/>
                        </a:rPr>
                        <a:t>) método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一方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ippō</a:t>
                      </a:r>
                      <a:r>
                        <a:rPr lang="es-CL" sz="1600">
                          <a:effectLst/>
                        </a:rPr>
                        <a:t>) por una parte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考え方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kangaekata</a:t>
                      </a:r>
                      <a:r>
                        <a:rPr lang="es-CL" sz="1600">
                          <a:effectLst/>
                        </a:rPr>
                        <a:t>) modo de pensar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956237"/>
                  </a:ext>
                </a:extLst>
              </a:tr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日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sol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日本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nihon</a:t>
                      </a:r>
                      <a:r>
                        <a:rPr lang="es-CL" sz="1600">
                          <a:effectLst/>
                        </a:rPr>
                        <a:t>) Japón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毎日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mainichi</a:t>
                      </a:r>
                      <a:r>
                        <a:rPr lang="es-CL" sz="1600">
                          <a:effectLst/>
                        </a:rPr>
                        <a:t>) todos los días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一日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ichinichi</a:t>
                      </a:r>
                      <a:r>
                        <a:rPr lang="es-CL" sz="1600">
                          <a:effectLst/>
                        </a:rPr>
                        <a:t>) un día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昨日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kinō</a:t>
                      </a:r>
                      <a:r>
                        <a:rPr lang="es-CL" sz="1600">
                          <a:effectLst/>
                        </a:rPr>
                        <a:t>) ayer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193653"/>
                  </a:ext>
                </a:extLst>
              </a:tr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月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luna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一月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ichigatsu</a:t>
                      </a:r>
                      <a:r>
                        <a:rPr lang="es-CL" sz="1600">
                          <a:effectLst/>
                        </a:rPr>
                        <a:t>) enero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月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tsuki</a:t>
                      </a:r>
                      <a:r>
                        <a:rPr lang="es-CL" sz="1600">
                          <a:effectLst/>
                        </a:rPr>
                        <a:t>) luna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一ヶ月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ikkagetsu</a:t>
                      </a:r>
                      <a:r>
                        <a:rPr lang="es-CL" sz="1600">
                          <a:effectLst/>
                        </a:rPr>
                        <a:t>) un mes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正月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shōgatsu</a:t>
                      </a:r>
                      <a:r>
                        <a:rPr lang="es-CL" sz="1600">
                          <a:effectLst/>
                        </a:rPr>
                        <a:t>) año nuevo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810649"/>
                  </a:ext>
                </a:extLst>
              </a:tr>
              <a:tr h="61286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王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rey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>
                          <a:effectLst/>
                        </a:rPr>
                        <a:t>ō</a:t>
                      </a:r>
                      <a:r>
                        <a:rPr lang="es-CL" sz="1600" dirty="0">
                          <a:effectLst/>
                        </a:rPr>
                        <a:t>) rey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王様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ōsama</a:t>
                      </a:r>
                      <a:r>
                        <a:rPr lang="es-CL" sz="1600" dirty="0">
                          <a:effectLst/>
                        </a:rPr>
                        <a:t>) rey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048065"/>
                  </a:ext>
                </a:extLst>
              </a:tr>
              <a:tr h="79672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世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generación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世界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sekai</a:t>
                      </a:r>
                      <a:r>
                        <a:rPr lang="es-CL" sz="1600" dirty="0">
                          <a:effectLst/>
                        </a:rPr>
                        <a:t>) mundo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世の中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yononaka</a:t>
                      </a:r>
                      <a:r>
                        <a:rPr lang="es-CL" sz="1600" dirty="0">
                          <a:effectLst/>
                        </a:rPr>
                        <a:t>) mundo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世話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sewa</a:t>
                      </a:r>
                      <a:r>
                        <a:rPr lang="es-CL" sz="1600" dirty="0">
                          <a:effectLst/>
                        </a:rPr>
                        <a:t>) cuidado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世代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sedai</a:t>
                      </a:r>
                      <a:r>
                        <a:rPr lang="es-CL" sz="1600" dirty="0">
                          <a:effectLst/>
                        </a:rPr>
                        <a:t>) generación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955871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5E4191D-19CA-A806-BAF1-7EA21DF21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637097"/>
              </p:ext>
            </p:extLst>
          </p:nvPr>
        </p:nvGraphicFramePr>
        <p:xfrm>
          <a:off x="5693248" y="297560"/>
          <a:ext cx="6178259" cy="5959230"/>
        </p:xfrm>
        <a:graphic>
          <a:graphicData uri="http://schemas.openxmlformats.org/drawingml/2006/table">
            <a:tbl>
              <a:tblPr/>
              <a:tblGrid>
                <a:gridCol w="1443519">
                  <a:extLst>
                    <a:ext uri="{9D8B030D-6E8A-4147-A177-3AD203B41FA5}">
                      <a16:colId xmlns:a16="http://schemas.microsoft.com/office/drawing/2014/main" val="2840441932"/>
                    </a:ext>
                  </a:extLst>
                </a:gridCol>
                <a:gridCol w="4734740">
                  <a:extLst>
                    <a:ext uri="{9D8B030D-6E8A-4147-A177-3AD203B41FA5}">
                      <a16:colId xmlns:a16="http://schemas.microsoft.com/office/drawing/2014/main" val="1310912252"/>
                    </a:ext>
                  </a:extLst>
                </a:gridCol>
              </a:tblGrid>
              <a:tr h="11229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出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salir</a:t>
                      </a:r>
                    </a:p>
                  </a:txBody>
                  <a:tcPr marL="14621" marR="14621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出る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deru</a:t>
                      </a:r>
                      <a:r>
                        <a:rPr lang="es-CL" sz="1600" dirty="0">
                          <a:effectLst/>
                        </a:rPr>
                        <a:t>) salir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出す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dasu</a:t>
                      </a:r>
                      <a:r>
                        <a:rPr lang="es-CL" sz="1600" dirty="0">
                          <a:effectLst/>
                        </a:rPr>
                        <a:t>) sacar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思い出す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omoidasu</a:t>
                      </a:r>
                      <a:r>
                        <a:rPr lang="es-CL" sz="1600" dirty="0">
                          <a:effectLst/>
                        </a:rPr>
                        <a:t>) recordar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思い出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omoide</a:t>
                      </a:r>
                      <a:r>
                        <a:rPr lang="es-CL" sz="1600" dirty="0">
                          <a:effectLst/>
                        </a:rPr>
                        <a:t>) recuerdo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933974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外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fuera</a:t>
                      </a:r>
                    </a:p>
                  </a:txBody>
                  <a:tcPr marL="14621" marR="14621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外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soto</a:t>
                      </a:r>
                      <a:r>
                        <a:rPr lang="es-CL" sz="1600">
                          <a:effectLst/>
                        </a:rPr>
                        <a:t>) afuera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海外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kaigai</a:t>
                      </a:r>
                      <a:r>
                        <a:rPr lang="es-CL" sz="1600">
                          <a:effectLst/>
                        </a:rPr>
                        <a:t>) en el extranjero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意外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igai</a:t>
                      </a:r>
                      <a:r>
                        <a:rPr lang="es-CL" sz="1600">
                          <a:effectLst/>
                        </a:rPr>
                        <a:t>) inesperado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外国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gaikoku</a:t>
                      </a:r>
                      <a:r>
                        <a:rPr lang="es-CL" sz="1600">
                          <a:effectLst/>
                        </a:rPr>
                        <a:t>) país extranjero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816097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本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origen</a:t>
                      </a:r>
                    </a:p>
                  </a:txBody>
                  <a:tcPr marL="14621" marR="14621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本当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hontō</a:t>
                      </a:r>
                      <a:r>
                        <a:rPr lang="es-CL" sz="1600">
                          <a:effectLst/>
                        </a:rPr>
                        <a:t>) verdad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本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hon</a:t>
                      </a:r>
                      <a:r>
                        <a:rPr lang="es-CL" sz="1600">
                          <a:effectLst/>
                        </a:rPr>
                        <a:t>) libro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基本的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kihonteki</a:t>
                      </a:r>
                      <a:r>
                        <a:rPr lang="es-CL" sz="1600">
                          <a:effectLst/>
                        </a:rPr>
                        <a:t>) básico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日本語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nihongo</a:t>
                      </a:r>
                      <a:r>
                        <a:rPr lang="es-CL" sz="1600">
                          <a:effectLst/>
                        </a:rPr>
                        <a:t>) japonés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61529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未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aún no</a:t>
                      </a:r>
                    </a:p>
                  </a:txBody>
                  <a:tcPr marL="14621" marR="14621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未来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mirai</a:t>
                      </a:r>
                      <a:r>
                        <a:rPr lang="es-CL" sz="1600" dirty="0">
                          <a:effectLst/>
                        </a:rPr>
                        <a:t>) el futuro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55293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永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eterno</a:t>
                      </a:r>
                    </a:p>
                  </a:txBody>
                  <a:tcPr marL="14621" marR="14621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永遠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eien</a:t>
                      </a:r>
                      <a:r>
                        <a:rPr lang="es-CL" sz="1600" dirty="0">
                          <a:effectLst/>
                        </a:rPr>
                        <a:t>) eternidad</a:t>
                      </a: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239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06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00ED6-FB21-1709-3B89-471F4A15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271ADA0-6E5E-C15B-030B-82BCF2C75178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115948F-2831-48AA-B655-C172709C5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467354"/>
              </p:ext>
            </p:extLst>
          </p:nvPr>
        </p:nvGraphicFramePr>
        <p:xfrm>
          <a:off x="1" y="297560"/>
          <a:ext cx="5693248" cy="6134710"/>
        </p:xfrm>
        <a:graphic>
          <a:graphicData uri="http://schemas.openxmlformats.org/drawingml/2006/table">
            <a:tbl>
              <a:tblPr/>
              <a:tblGrid>
                <a:gridCol w="1330198">
                  <a:extLst>
                    <a:ext uri="{9D8B030D-6E8A-4147-A177-3AD203B41FA5}">
                      <a16:colId xmlns:a16="http://schemas.microsoft.com/office/drawing/2014/main" val="1791448333"/>
                    </a:ext>
                  </a:extLst>
                </a:gridCol>
                <a:gridCol w="4363050">
                  <a:extLst>
                    <a:ext uri="{9D8B030D-6E8A-4147-A177-3AD203B41FA5}">
                      <a16:colId xmlns:a16="http://schemas.microsoft.com/office/drawing/2014/main" val="436733885"/>
                    </a:ext>
                  </a:extLst>
                </a:gridCol>
              </a:tblGrid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生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vivir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生活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seikatsu</a:t>
                      </a:r>
                      <a:r>
                        <a:rPr lang="es-CL" sz="1600">
                          <a:effectLst/>
                        </a:rPr>
                        <a:t>) vida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先生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sensei</a:t>
                      </a:r>
                      <a:r>
                        <a:rPr lang="es-CL" sz="1600">
                          <a:effectLst/>
                        </a:rPr>
                        <a:t>) maestro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生きる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ikiru</a:t>
                      </a:r>
                      <a:r>
                        <a:rPr lang="es-CL" sz="1600">
                          <a:effectLst/>
                        </a:rPr>
                        <a:t>) vivir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生まれる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umareru</a:t>
                      </a:r>
                      <a:r>
                        <a:rPr lang="es-CL" sz="1600">
                          <a:effectLst/>
                        </a:rPr>
                        <a:t>) nacer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371800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目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ojo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目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me</a:t>
                      </a:r>
                      <a:r>
                        <a:rPr lang="es-CL" sz="1600">
                          <a:effectLst/>
                        </a:rPr>
                        <a:t>) ojo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目的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mokuteki</a:t>
                      </a:r>
                      <a:r>
                        <a:rPr lang="es-CL" sz="1600">
                          <a:effectLst/>
                        </a:rPr>
                        <a:t>) propósito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目指す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mezasu</a:t>
                      </a:r>
                      <a:r>
                        <a:rPr lang="es-CL" sz="1600">
                          <a:effectLst/>
                        </a:rPr>
                        <a:t>) apuntar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目標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mokuhyō</a:t>
                      </a:r>
                      <a:r>
                        <a:rPr lang="es-CL" sz="1600">
                          <a:effectLst/>
                        </a:rPr>
                        <a:t>) blanco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101149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立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levantarse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立つ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tatsu</a:t>
                      </a:r>
                      <a:r>
                        <a:rPr lang="es-CL" sz="1600">
                          <a:effectLst/>
                        </a:rPr>
                        <a:t>) estar de pie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立てる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tateru</a:t>
                      </a:r>
                      <a:r>
                        <a:rPr lang="es-CL" sz="1600">
                          <a:effectLst/>
                        </a:rPr>
                        <a:t>) parar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立場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tachiba</a:t>
                      </a:r>
                      <a:r>
                        <a:rPr lang="es-CL" sz="1600">
                          <a:effectLst/>
                        </a:rPr>
                        <a:t>) punto de vista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成立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seiritsu</a:t>
                      </a:r>
                      <a:r>
                        <a:rPr lang="es-CL" sz="1600">
                          <a:effectLst/>
                        </a:rPr>
                        <a:t>) establecimiento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729113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会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reunirse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会社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kaisha</a:t>
                      </a:r>
                      <a:r>
                        <a:rPr lang="es-CL" sz="1600">
                          <a:effectLst/>
                        </a:rPr>
                        <a:t>) empresa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会う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au</a:t>
                      </a:r>
                      <a:r>
                        <a:rPr lang="es-CL" sz="1600">
                          <a:effectLst/>
                        </a:rPr>
                        <a:t>) encontrarse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社会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shakai</a:t>
                      </a:r>
                      <a:r>
                        <a:rPr lang="es-CL" sz="1600">
                          <a:effectLst/>
                        </a:rPr>
                        <a:t>) sociedad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機会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kikai</a:t>
                      </a:r>
                      <a:r>
                        <a:rPr lang="es-CL" sz="1600">
                          <a:effectLst/>
                        </a:rPr>
                        <a:t>) posibilidad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151565"/>
                  </a:ext>
                </a:extLst>
              </a:tr>
              <a:tr h="73464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伝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transmitir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伝える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tsutaeru</a:t>
                      </a:r>
                      <a:r>
                        <a:rPr lang="es-CL" sz="1600" dirty="0">
                          <a:effectLst/>
                        </a:rPr>
                        <a:t>) transportar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伝わる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tsutawaru</a:t>
                      </a:r>
                      <a:r>
                        <a:rPr lang="es-CL" sz="1600" dirty="0">
                          <a:effectLst/>
                        </a:rPr>
                        <a:t>) transmitirse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手伝う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tetsudau</a:t>
                      </a:r>
                      <a:r>
                        <a:rPr lang="es-CL" sz="1600" dirty="0">
                          <a:effectLst/>
                        </a:rPr>
                        <a:t>) ayudar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伝統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dentō</a:t>
                      </a:r>
                      <a:r>
                        <a:rPr lang="es-CL" sz="1600" dirty="0">
                          <a:effectLst/>
                        </a:rPr>
                        <a:t>) tradición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7038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78A4DF3-D14F-7568-8988-1799CDDC4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66194"/>
              </p:ext>
            </p:extLst>
          </p:nvPr>
        </p:nvGraphicFramePr>
        <p:xfrm>
          <a:off x="5693249" y="297560"/>
          <a:ext cx="6498751" cy="6134710"/>
        </p:xfrm>
        <a:graphic>
          <a:graphicData uri="http://schemas.openxmlformats.org/drawingml/2006/table">
            <a:tbl>
              <a:tblPr/>
              <a:tblGrid>
                <a:gridCol w="1518400">
                  <a:extLst>
                    <a:ext uri="{9D8B030D-6E8A-4147-A177-3AD203B41FA5}">
                      <a16:colId xmlns:a16="http://schemas.microsoft.com/office/drawing/2014/main" val="1223543333"/>
                    </a:ext>
                  </a:extLst>
                </a:gridCol>
                <a:gridCol w="4980351">
                  <a:extLst>
                    <a:ext uri="{9D8B030D-6E8A-4147-A177-3AD203B41FA5}">
                      <a16:colId xmlns:a16="http://schemas.microsoft.com/office/drawing/2014/main" val="1887818905"/>
                    </a:ext>
                  </a:extLst>
                </a:gridCol>
              </a:tblGrid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先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antes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先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saki</a:t>
                      </a:r>
                      <a:r>
                        <a:rPr lang="es-CL" sz="1600">
                          <a:effectLst/>
                        </a:rPr>
                        <a:t>) previo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先程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sakihodo</a:t>
                      </a:r>
                      <a:r>
                        <a:rPr lang="es-CL" sz="1600">
                          <a:effectLst/>
                        </a:rPr>
                        <a:t>) hace algún tiempo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先輩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senpai</a:t>
                      </a:r>
                      <a:r>
                        <a:rPr lang="es-CL" sz="1600">
                          <a:effectLst/>
                        </a:rPr>
                        <a:t>) senior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先日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senjitsu</a:t>
                      </a:r>
                      <a:r>
                        <a:rPr lang="es-CL" sz="1600">
                          <a:effectLst/>
                        </a:rPr>
                        <a:t>) el otro día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825876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光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luz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光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hikari</a:t>
                      </a:r>
                      <a:r>
                        <a:rPr lang="es-CL" sz="1600">
                          <a:effectLst/>
                        </a:rPr>
                        <a:t>) luz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光景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kōkei</a:t>
                      </a:r>
                      <a:r>
                        <a:rPr lang="es-CL" sz="1600">
                          <a:effectLst/>
                        </a:rPr>
                        <a:t>) escena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光る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hikaru</a:t>
                      </a:r>
                      <a:r>
                        <a:rPr lang="es-CL" sz="1600">
                          <a:effectLst/>
                        </a:rPr>
                        <a:t>) brillar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観光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kankō</a:t>
                      </a:r>
                      <a:r>
                        <a:rPr lang="es-CL" sz="1600">
                          <a:effectLst/>
                        </a:rPr>
                        <a:t>) turismo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546897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全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completo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全く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mattaku</a:t>
                      </a:r>
                      <a:r>
                        <a:rPr lang="es-CL" sz="1600">
                          <a:effectLst/>
                        </a:rPr>
                        <a:t>) en realidad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全然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zenzen</a:t>
                      </a:r>
                      <a:r>
                        <a:rPr lang="es-CL" sz="1600">
                          <a:effectLst/>
                        </a:rPr>
                        <a:t>) completamente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全部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zenbu</a:t>
                      </a:r>
                      <a:r>
                        <a:rPr lang="es-CL" sz="1600">
                          <a:effectLst/>
                        </a:rPr>
                        <a:t>) todo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完全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kanzen</a:t>
                      </a:r>
                      <a:r>
                        <a:rPr lang="es-CL" sz="1600">
                          <a:effectLst/>
                        </a:rPr>
                        <a:t>) perfeción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31709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合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adecuado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場合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bāi</a:t>
                      </a:r>
                      <a:r>
                        <a:rPr lang="es-CL" sz="1600">
                          <a:effectLst/>
                        </a:rPr>
                        <a:t>) caso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合わせる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awaseru</a:t>
                      </a:r>
                      <a:r>
                        <a:rPr lang="es-CL" sz="1600">
                          <a:effectLst/>
                        </a:rPr>
                        <a:t>) hacer frente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合う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au</a:t>
                      </a:r>
                      <a:r>
                        <a:rPr lang="es-CL" sz="1600">
                          <a:effectLst/>
                        </a:rPr>
                        <a:t>) colocar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付き合う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tsukiau</a:t>
                      </a:r>
                      <a:r>
                        <a:rPr lang="es-CL" sz="1600">
                          <a:effectLst/>
                        </a:rPr>
                        <a:t>) andar con alguien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614552"/>
                  </a:ext>
                </a:extLst>
              </a:tr>
              <a:tr h="73464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同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mismo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同じ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onaji</a:t>
                      </a:r>
                      <a:r>
                        <a:rPr lang="es-CL" sz="1600" dirty="0">
                          <a:effectLst/>
                        </a:rPr>
                        <a:t>) el mismo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同時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dōji</a:t>
                      </a:r>
                      <a:r>
                        <a:rPr lang="es-CL" sz="1600" dirty="0">
                          <a:effectLst/>
                        </a:rPr>
                        <a:t>) simultáneamente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同様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dōyō</a:t>
                      </a:r>
                      <a:r>
                        <a:rPr lang="es-CL" sz="1600" dirty="0">
                          <a:effectLst/>
                        </a:rPr>
                        <a:t>) igual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同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dō</a:t>
                      </a:r>
                      <a:r>
                        <a:rPr lang="es-CL" sz="1600" dirty="0">
                          <a:effectLst/>
                        </a:rPr>
                        <a:t>) el mismo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51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86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6A2E-F376-4CBA-49B1-48A192D5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1DAA21F-5AB9-2D44-1F89-BAB521980627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7A15BF7-34B8-FB0C-F9B5-2C7C54D8A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663031"/>
              </p:ext>
            </p:extLst>
          </p:nvPr>
        </p:nvGraphicFramePr>
        <p:xfrm>
          <a:off x="1" y="297560"/>
          <a:ext cx="5693248" cy="6158590"/>
        </p:xfrm>
        <a:graphic>
          <a:graphicData uri="http://schemas.openxmlformats.org/drawingml/2006/table">
            <a:tbl>
              <a:tblPr/>
              <a:tblGrid>
                <a:gridCol w="1330198">
                  <a:extLst>
                    <a:ext uri="{9D8B030D-6E8A-4147-A177-3AD203B41FA5}">
                      <a16:colId xmlns:a16="http://schemas.microsoft.com/office/drawing/2014/main" val="194267966"/>
                    </a:ext>
                  </a:extLst>
                </a:gridCol>
                <a:gridCol w="4363050">
                  <a:extLst>
                    <a:ext uri="{9D8B030D-6E8A-4147-A177-3AD203B41FA5}">
                      <a16:colId xmlns:a16="http://schemas.microsoft.com/office/drawing/2014/main" val="1018739557"/>
                    </a:ext>
                  </a:extLst>
                </a:gridCol>
              </a:tblGrid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名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nombre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名前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namae</a:t>
                      </a:r>
                      <a:r>
                        <a:rPr lang="es-CL" sz="1600">
                          <a:effectLst/>
                        </a:rPr>
                        <a:t>) nombre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有名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yūmei</a:t>
                      </a:r>
                      <a:r>
                        <a:rPr lang="es-CL" sz="1600">
                          <a:effectLst/>
                        </a:rPr>
                        <a:t>) famoso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名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na</a:t>
                      </a:r>
                      <a:r>
                        <a:rPr lang="es-CL" sz="1600">
                          <a:effectLst/>
                        </a:rPr>
                        <a:t>) nombre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名称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meishō</a:t>
                      </a:r>
                      <a:r>
                        <a:rPr lang="es-CL" sz="1600">
                          <a:effectLst/>
                        </a:rPr>
                        <a:t>) nombre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67191"/>
                  </a:ext>
                </a:extLst>
              </a:tr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回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girar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一回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ikkai</a:t>
                      </a:r>
                      <a:r>
                        <a:rPr lang="es-CL" sz="1600">
                          <a:effectLst/>
                        </a:rPr>
                        <a:t>) una vez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回る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mawaru</a:t>
                      </a:r>
                      <a:r>
                        <a:rPr lang="es-CL" sz="1600">
                          <a:effectLst/>
                        </a:rPr>
                        <a:t>) girar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何回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nankai</a:t>
                      </a:r>
                      <a:r>
                        <a:rPr lang="es-CL" sz="1600">
                          <a:effectLst/>
                        </a:rPr>
                        <a:t>) ¿cuántas veces?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二回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nikai</a:t>
                      </a:r>
                      <a:r>
                        <a:rPr lang="es-CL" sz="1600">
                          <a:effectLst/>
                        </a:rPr>
                        <a:t>) dos veces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320399"/>
                  </a:ext>
                </a:extLst>
              </a:tr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好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gustar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好き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suki</a:t>
                      </a:r>
                      <a:r>
                        <a:rPr lang="es-CL" sz="1600">
                          <a:effectLst/>
                        </a:rPr>
                        <a:t>) gustar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大好き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daisuki</a:t>
                      </a:r>
                      <a:r>
                        <a:rPr lang="es-CL" sz="1600">
                          <a:effectLst/>
                        </a:rPr>
                        <a:t>) adorable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格好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kakkō</a:t>
                      </a:r>
                      <a:r>
                        <a:rPr lang="es-CL" sz="1600">
                          <a:effectLst/>
                        </a:rPr>
                        <a:t>) figura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好み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konomi</a:t>
                      </a:r>
                      <a:r>
                        <a:rPr lang="es-CL" sz="1600">
                          <a:effectLst/>
                        </a:rPr>
                        <a:t>) gusto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22303"/>
                  </a:ext>
                </a:extLst>
              </a:tr>
              <a:tr h="61286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守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proteger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守る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mamoru</a:t>
                      </a:r>
                      <a:r>
                        <a:rPr lang="es-CL" sz="1600" dirty="0">
                          <a:effectLst/>
                        </a:rPr>
                        <a:t>) proteger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見守る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mimamoru</a:t>
                      </a:r>
                      <a:r>
                        <a:rPr lang="es-CL" sz="1600" dirty="0">
                          <a:effectLst/>
                        </a:rPr>
                        <a:t>) vigilar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826531"/>
                  </a:ext>
                </a:extLst>
              </a:tr>
              <a:tr h="79672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年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año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年 </a:t>
                      </a:r>
                      <a:r>
                        <a:rPr lang="es-CL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toshi</a:t>
                      </a:r>
                      <a:r>
                        <a:rPr lang="es-CL" sz="1600" dirty="0">
                          <a:effectLst/>
                        </a:rPr>
                        <a:t>) año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今年 </a:t>
                      </a:r>
                      <a:r>
                        <a:rPr lang="es-CL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kotoshi</a:t>
                      </a:r>
                      <a:r>
                        <a:rPr lang="es-CL" sz="1600" dirty="0">
                          <a:effectLst/>
                        </a:rPr>
                        <a:t>) este año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一年 </a:t>
                      </a:r>
                      <a:r>
                        <a:rPr lang="es-CL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ichinen</a:t>
                      </a:r>
                      <a:r>
                        <a:rPr lang="es-CL" sz="1600" dirty="0">
                          <a:effectLst/>
                        </a:rPr>
                        <a:t>) un año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毎年 </a:t>
                      </a:r>
                      <a:r>
                        <a:rPr lang="es-CL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maitoshi</a:t>
                      </a:r>
                      <a:r>
                        <a:rPr lang="es-CL" sz="1600" dirty="0">
                          <a:effectLst/>
                        </a:rPr>
                        <a:t>) cada año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975564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F774F04-DF5D-8648-4484-C001B42EF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528631"/>
              </p:ext>
            </p:extLst>
          </p:nvPr>
        </p:nvGraphicFramePr>
        <p:xfrm>
          <a:off x="5693248" y="297560"/>
          <a:ext cx="6498751" cy="6134710"/>
        </p:xfrm>
        <a:graphic>
          <a:graphicData uri="http://schemas.openxmlformats.org/drawingml/2006/table">
            <a:tbl>
              <a:tblPr/>
              <a:tblGrid>
                <a:gridCol w="1518400">
                  <a:extLst>
                    <a:ext uri="{9D8B030D-6E8A-4147-A177-3AD203B41FA5}">
                      <a16:colId xmlns:a16="http://schemas.microsoft.com/office/drawing/2014/main" val="1758353375"/>
                    </a:ext>
                  </a:extLst>
                </a:gridCol>
                <a:gridCol w="4980351">
                  <a:extLst>
                    <a:ext uri="{9D8B030D-6E8A-4147-A177-3AD203B41FA5}">
                      <a16:colId xmlns:a16="http://schemas.microsoft.com/office/drawing/2014/main" val="1110377553"/>
                    </a:ext>
                  </a:extLst>
                </a:gridCol>
              </a:tblGrid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早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temprano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早い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hayai</a:t>
                      </a:r>
                      <a:r>
                        <a:rPr lang="es-CL" sz="1600">
                          <a:effectLst/>
                        </a:rPr>
                        <a:t>) rápido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早速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sassoku</a:t>
                      </a:r>
                      <a:r>
                        <a:rPr lang="es-CL" sz="1600">
                          <a:effectLst/>
                        </a:rPr>
                        <a:t>) en seguida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早め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hayame</a:t>
                      </a:r>
                      <a:r>
                        <a:rPr lang="es-CL" sz="1600">
                          <a:effectLst/>
                        </a:rPr>
                        <a:t>) antelación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素早い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subayai</a:t>
                      </a:r>
                      <a:r>
                        <a:rPr lang="es-CL" sz="1600">
                          <a:effectLst/>
                        </a:rPr>
                        <a:t>) rápido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067690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死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muerte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死ぬ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shinu</a:t>
                      </a:r>
                      <a:r>
                        <a:rPr lang="es-CL" sz="1600">
                          <a:effectLst/>
                        </a:rPr>
                        <a:t>) morir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死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shi</a:t>
                      </a:r>
                      <a:r>
                        <a:rPr lang="es-CL" sz="1600">
                          <a:effectLst/>
                        </a:rPr>
                        <a:t>) muerte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必死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hisshi</a:t>
                      </a:r>
                      <a:r>
                        <a:rPr lang="es-CL" sz="1600">
                          <a:effectLst/>
                        </a:rPr>
                        <a:t>) muerte inevitable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死亡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shibō</a:t>
                      </a:r>
                      <a:r>
                        <a:rPr lang="es-CL" sz="1600">
                          <a:effectLst/>
                        </a:rPr>
                        <a:t>) muerte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68366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気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ánimo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気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ki</a:t>
                      </a:r>
                      <a:r>
                        <a:rPr lang="es-CL" sz="1600">
                          <a:effectLst/>
                        </a:rPr>
                        <a:t>) energía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気持ち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kimochi</a:t>
                      </a:r>
                      <a:r>
                        <a:rPr lang="es-CL" sz="1600">
                          <a:effectLst/>
                        </a:rPr>
                        <a:t>) sentimiento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病気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byōki</a:t>
                      </a:r>
                      <a:r>
                        <a:rPr lang="es-CL" sz="1600">
                          <a:effectLst/>
                        </a:rPr>
                        <a:t>) enfermedad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気付く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kizuku</a:t>
                      </a:r>
                      <a:r>
                        <a:rPr lang="es-CL" sz="1600">
                          <a:effectLst/>
                        </a:rPr>
                        <a:t>) percibir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605579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考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idea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考える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kangaeru</a:t>
                      </a:r>
                      <a:r>
                        <a:rPr lang="es-CL" sz="1600">
                          <a:effectLst/>
                        </a:rPr>
                        <a:t>) pensar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考え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kangae</a:t>
                      </a:r>
                      <a:r>
                        <a:rPr lang="es-CL" sz="1600">
                          <a:effectLst/>
                        </a:rPr>
                        <a:t>) idea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参考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sankō</a:t>
                      </a:r>
                      <a:r>
                        <a:rPr lang="es-CL" sz="1600">
                          <a:effectLst/>
                        </a:rPr>
                        <a:t>) consulta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考慮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kōryo</a:t>
                      </a:r>
                      <a:r>
                        <a:rPr lang="es-CL" sz="1600">
                          <a:effectLst/>
                        </a:rPr>
                        <a:t>) reflexión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74568"/>
                  </a:ext>
                </a:extLst>
              </a:tr>
              <a:tr h="73464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自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uno mismo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自然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shizen</a:t>
                      </a:r>
                      <a:r>
                        <a:rPr lang="es-CL" sz="1600" dirty="0">
                          <a:effectLst/>
                        </a:rPr>
                        <a:t>) naturaleza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自由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jiyū</a:t>
                      </a:r>
                      <a:r>
                        <a:rPr lang="es-CL" sz="1600" dirty="0">
                          <a:effectLst/>
                        </a:rPr>
                        <a:t>) libertad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自転車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jitensha</a:t>
                      </a:r>
                      <a:r>
                        <a:rPr lang="es-CL" sz="1600" dirty="0">
                          <a:effectLst/>
                        </a:rPr>
                        <a:t>) bicicleta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自ら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mizukara</a:t>
                      </a:r>
                      <a:r>
                        <a:rPr lang="es-CL" sz="1600" dirty="0">
                          <a:effectLst/>
                        </a:rPr>
                        <a:t>) para uno mismo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796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591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4C8FB-E62E-673A-20FC-578F844A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CEF08AA-9BFE-D134-346F-7A54D186636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750C539-5650-369F-BA0F-470681FCA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543753"/>
              </p:ext>
            </p:extLst>
          </p:nvPr>
        </p:nvGraphicFramePr>
        <p:xfrm>
          <a:off x="1" y="297560"/>
          <a:ext cx="5693248" cy="6134710"/>
        </p:xfrm>
        <a:graphic>
          <a:graphicData uri="http://schemas.openxmlformats.org/drawingml/2006/table">
            <a:tbl>
              <a:tblPr/>
              <a:tblGrid>
                <a:gridCol w="1330198">
                  <a:extLst>
                    <a:ext uri="{9D8B030D-6E8A-4147-A177-3AD203B41FA5}">
                      <a16:colId xmlns:a16="http://schemas.microsoft.com/office/drawing/2014/main" val="4095011916"/>
                    </a:ext>
                  </a:extLst>
                </a:gridCol>
                <a:gridCol w="4363050">
                  <a:extLst>
                    <a:ext uri="{9D8B030D-6E8A-4147-A177-3AD203B41FA5}">
                      <a16:colId xmlns:a16="http://schemas.microsoft.com/office/drawing/2014/main" val="982628311"/>
                    </a:ext>
                  </a:extLst>
                </a:gridCol>
              </a:tblGrid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色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color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色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>
                          <a:effectLst/>
                        </a:rPr>
                        <a:t>iro</a:t>
                      </a:r>
                      <a:r>
                        <a:rPr lang="es-CL" sz="1600" dirty="0">
                          <a:effectLst/>
                        </a:rPr>
                        <a:t>) color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景色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keshiki</a:t>
                      </a:r>
                      <a:r>
                        <a:rPr lang="es-CL" sz="1600" dirty="0">
                          <a:effectLst/>
                        </a:rPr>
                        <a:t>) paisaje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黄色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kīro</a:t>
                      </a:r>
                      <a:r>
                        <a:rPr lang="es-CL" sz="1600" dirty="0">
                          <a:effectLst/>
                        </a:rPr>
                        <a:t>) amarillo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黄色い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kīroi</a:t>
                      </a:r>
                      <a:r>
                        <a:rPr lang="es-CL" sz="1600" dirty="0">
                          <a:effectLst/>
                        </a:rPr>
                        <a:t>) amarillo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516218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行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ir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行く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iku</a:t>
                      </a:r>
                      <a:r>
                        <a:rPr lang="es-CL" sz="1600">
                          <a:effectLst/>
                        </a:rPr>
                        <a:t>) ir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行なう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okonau</a:t>
                      </a:r>
                      <a:r>
                        <a:rPr lang="es-CL" sz="1600">
                          <a:effectLst/>
                        </a:rPr>
                        <a:t>) llevarse a cabo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旅行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ryokō</a:t>
                      </a:r>
                      <a:r>
                        <a:rPr lang="es-CL" sz="1600">
                          <a:effectLst/>
                        </a:rPr>
                        <a:t>) viaje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行動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kōdō</a:t>
                      </a:r>
                      <a:r>
                        <a:rPr lang="es-CL" sz="1600">
                          <a:effectLst/>
                        </a:rPr>
                        <a:t>) acción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840438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体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cuerpo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体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karada</a:t>
                      </a:r>
                      <a:r>
                        <a:rPr lang="es-CL" sz="1600">
                          <a:effectLst/>
                        </a:rPr>
                        <a:t>) cuerpo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一体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ittai</a:t>
                      </a:r>
                      <a:r>
                        <a:rPr lang="es-CL" sz="1600">
                          <a:effectLst/>
                        </a:rPr>
                        <a:t>) diablos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具体的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gutaiteki</a:t>
                      </a:r>
                      <a:r>
                        <a:rPr lang="es-CL" sz="1600">
                          <a:effectLst/>
                        </a:rPr>
                        <a:t>) concretamente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体験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taiken</a:t>
                      </a:r>
                      <a:r>
                        <a:rPr lang="es-CL" sz="1600">
                          <a:effectLst/>
                        </a:rPr>
                        <a:t>) experiencia personal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676030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何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qué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何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nani</a:t>
                      </a:r>
                      <a:r>
                        <a:rPr lang="es-CL" sz="1600">
                          <a:effectLst/>
                        </a:rPr>
                        <a:t>) qué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何度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nando</a:t>
                      </a:r>
                      <a:r>
                        <a:rPr lang="es-CL" sz="1600">
                          <a:effectLst/>
                        </a:rPr>
                        <a:t>) cuántas veces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何とか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nantoka</a:t>
                      </a:r>
                      <a:r>
                        <a:rPr lang="es-CL" sz="1600">
                          <a:effectLst/>
                        </a:rPr>
                        <a:t>) de alguna manera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何々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naninani</a:t>
                      </a:r>
                      <a:r>
                        <a:rPr lang="es-CL" sz="1600">
                          <a:effectLst/>
                        </a:rPr>
                        <a:t>) tal cosa y tal cosa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248535"/>
                  </a:ext>
                </a:extLst>
              </a:tr>
              <a:tr h="73464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作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elaborar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作る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tsukuru</a:t>
                      </a:r>
                      <a:r>
                        <a:rPr lang="es-CL" sz="1600" dirty="0">
                          <a:effectLst/>
                        </a:rPr>
                        <a:t>) hacer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作品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sakuhin</a:t>
                      </a:r>
                      <a:r>
                        <a:rPr lang="es-CL" sz="1600" dirty="0">
                          <a:effectLst/>
                        </a:rPr>
                        <a:t>) obra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作り方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tsukurikata</a:t>
                      </a:r>
                      <a:r>
                        <a:rPr lang="es-CL" sz="1600" dirty="0">
                          <a:effectLst/>
                        </a:rPr>
                        <a:t>) modo de elaboración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作業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sagyō</a:t>
                      </a:r>
                      <a:r>
                        <a:rPr lang="es-CL" sz="1600" dirty="0">
                          <a:effectLst/>
                        </a:rPr>
                        <a:t>) labor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4026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6EAFA3C-FA8A-86E2-63DB-A204D4924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233660"/>
              </p:ext>
            </p:extLst>
          </p:nvPr>
        </p:nvGraphicFramePr>
        <p:xfrm>
          <a:off x="5693249" y="297560"/>
          <a:ext cx="6498750" cy="6284820"/>
        </p:xfrm>
        <a:graphic>
          <a:graphicData uri="http://schemas.openxmlformats.org/drawingml/2006/table">
            <a:tbl>
              <a:tblPr/>
              <a:tblGrid>
                <a:gridCol w="1518400">
                  <a:extLst>
                    <a:ext uri="{9D8B030D-6E8A-4147-A177-3AD203B41FA5}">
                      <a16:colId xmlns:a16="http://schemas.microsoft.com/office/drawing/2014/main" val="2942541646"/>
                    </a:ext>
                  </a:extLst>
                </a:gridCol>
                <a:gridCol w="4980350">
                  <a:extLst>
                    <a:ext uri="{9D8B030D-6E8A-4147-A177-3AD203B41FA5}">
                      <a16:colId xmlns:a16="http://schemas.microsoft.com/office/drawing/2014/main" val="2128941541"/>
                    </a:ext>
                  </a:extLst>
                </a:gridCol>
              </a:tblGrid>
              <a:tr h="131361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初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comienzo</a:t>
                      </a:r>
                    </a:p>
                  </a:txBody>
                  <a:tcPr marL="17104" marR="17104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最初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saisho</a:t>
                      </a:r>
                      <a:r>
                        <a:rPr lang="es-CL" sz="1600">
                          <a:effectLst/>
                        </a:rPr>
                        <a:t>) comienzo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初めて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hajimete</a:t>
                      </a:r>
                      <a:r>
                        <a:rPr lang="es-CL" sz="1600">
                          <a:effectLst/>
                        </a:rPr>
                        <a:t>) primera vez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初め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hajime</a:t>
                      </a:r>
                      <a:r>
                        <a:rPr lang="es-CL" sz="1600">
                          <a:effectLst/>
                        </a:rPr>
                        <a:t>) comienzo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当初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tōsho</a:t>
                      </a:r>
                      <a:r>
                        <a:rPr lang="es-CL" sz="1600">
                          <a:effectLst/>
                        </a:rPr>
                        <a:t>) al principio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98792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君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tú (coloquial)</a:t>
                      </a:r>
                    </a:p>
                  </a:txBody>
                  <a:tcPr marL="17104" marR="17104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君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kimi</a:t>
                      </a:r>
                      <a:r>
                        <a:rPr lang="es-CL" sz="1600" dirty="0">
                          <a:effectLst/>
                        </a:rPr>
                        <a:t>) tú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667008"/>
                  </a:ext>
                </a:extLst>
              </a:tr>
              <a:tr h="82100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声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voz</a:t>
                      </a:r>
                    </a:p>
                  </a:txBody>
                  <a:tcPr marL="17104" marR="17104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声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koe</a:t>
                      </a:r>
                      <a:r>
                        <a:rPr lang="es-CL" sz="1600" dirty="0">
                          <a:effectLst/>
                        </a:rPr>
                        <a:t>) voz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大声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ōgoe</a:t>
                      </a:r>
                      <a:r>
                        <a:rPr lang="es-CL" sz="1600" dirty="0">
                          <a:effectLst/>
                        </a:rPr>
                        <a:t>) voz alta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44804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忘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olvidar</a:t>
                      </a:r>
                    </a:p>
                  </a:txBody>
                  <a:tcPr marL="17104" marR="17104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忘れる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wasureru</a:t>
                      </a:r>
                      <a:r>
                        <a:rPr lang="es-CL" sz="1600" dirty="0">
                          <a:effectLst/>
                        </a:rPr>
                        <a:t>) olvidar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55046"/>
                  </a:ext>
                </a:extLst>
              </a:tr>
              <a:tr h="106730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来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venir</a:t>
                      </a:r>
                    </a:p>
                  </a:txBody>
                  <a:tcPr marL="17104" marR="17104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来る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kuru</a:t>
                      </a:r>
                      <a:r>
                        <a:rPr lang="es-CL" sz="1600" dirty="0">
                          <a:effectLst/>
                        </a:rPr>
                        <a:t>) venir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将来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shōrai</a:t>
                      </a:r>
                      <a:r>
                        <a:rPr lang="es-CL" sz="1600" dirty="0">
                          <a:effectLst/>
                        </a:rPr>
                        <a:t>) en el futuro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本来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honrai</a:t>
                      </a:r>
                      <a:r>
                        <a:rPr lang="es-CL" sz="1600" dirty="0">
                          <a:effectLst/>
                        </a:rPr>
                        <a:t>) originalmente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出来事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dekigoto</a:t>
                      </a:r>
                      <a:r>
                        <a:rPr lang="es-CL" sz="1600" dirty="0">
                          <a:effectLst/>
                        </a:rPr>
                        <a:t>) incidente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09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7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DD56-48FD-1B29-614F-0605BFC1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89A5502-E897-F92B-BC00-28C74715F2FE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0E26CE8-8EE5-8F2B-9982-116D146EB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814581"/>
              </p:ext>
            </p:extLst>
          </p:nvPr>
        </p:nvGraphicFramePr>
        <p:xfrm>
          <a:off x="1" y="297560"/>
          <a:ext cx="5693248" cy="6172110"/>
        </p:xfrm>
        <a:graphic>
          <a:graphicData uri="http://schemas.openxmlformats.org/drawingml/2006/table">
            <a:tbl>
              <a:tblPr/>
              <a:tblGrid>
                <a:gridCol w="1330198">
                  <a:extLst>
                    <a:ext uri="{9D8B030D-6E8A-4147-A177-3AD203B41FA5}">
                      <a16:colId xmlns:a16="http://schemas.microsoft.com/office/drawing/2014/main" val="3568172987"/>
                    </a:ext>
                  </a:extLst>
                </a:gridCol>
                <a:gridCol w="4363050">
                  <a:extLst>
                    <a:ext uri="{9D8B030D-6E8A-4147-A177-3AD203B41FA5}">
                      <a16:colId xmlns:a16="http://schemas.microsoft.com/office/drawing/2014/main" val="1975814271"/>
                    </a:ext>
                  </a:extLst>
                </a:gridCol>
              </a:tblGrid>
              <a:tr h="102384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男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hombre</a:t>
                      </a:r>
                    </a:p>
                  </a:txBody>
                  <a:tcPr marL="13331" marR="13331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男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otoko</a:t>
                      </a:r>
                      <a:r>
                        <a:rPr lang="es-CL" sz="1600">
                          <a:effectLst/>
                        </a:rPr>
                        <a:t>) hombre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男性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dansei</a:t>
                      </a:r>
                      <a:r>
                        <a:rPr lang="es-CL" sz="1600">
                          <a:effectLst/>
                        </a:rPr>
                        <a:t>) sexo masculino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男の子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otokonoko</a:t>
                      </a:r>
                      <a:r>
                        <a:rPr lang="es-CL" sz="1600">
                          <a:effectLst/>
                        </a:rPr>
                        <a:t>) muchacho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長男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chōnan</a:t>
                      </a:r>
                      <a:r>
                        <a:rPr lang="es-CL" sz="1600">
                          <a:effectLst/>
                        </a:rPr>
                        <a:t>) hijo mayor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42079"/>
                  </a:ext>
                </a:extLst>
              </a:tr>
              <a:tr h="63990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私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yo</a:t>
                      </a:r>
                    </a:p>
                  </a:txBody>
                  <a:tcPr marL="13331" marR="13331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私 </a:t>
                      </a:r>
                      <a:r>
                        <a:rPr lang="es-CL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watashi</a:t>
                      </a:r>
                      <a:r>
                        <a:rPr lang="es-CL" sz="1600" dirty="0">
                          <a:effectLst/>
                        </a:rPr>
                        <a:t>) yo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私立 </a:t>
                      </a:r>
                      <a:r>
                        <a:rPr lang="es-CL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shiritsu</a:t>
                      </a:r>
                      <a:r>
                        <a:rPr lang="es-CL" sz="1600" dirty="0">
                          <a:effectLst/>
                        </a:rPr>
                        <a:t>) privado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201690"/>
                  </a:ext>
                </a:extLst>
              </a:tr>
              <a:tr h="83187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花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flor</a:t>
                      </a:r>
                    </a:p>
                  </a:txBody>
                  <a:tcPr marL="13331" marR="13331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花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hana</a:t>
                      </a:r>
                      <a:r>
                        <a:rPr lang="es-CL" sz="1600" dirty="0">
                          <a:effectLst/>
                        </a:rPr>
                        <a:t>) flor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花火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hanabi</a:t>
                      </a:r>
                      <a:r>
                        <a:rPr lang="es-CL" sz="1600" dirty="0">
                          <a:effectLst/>
                        </a:rPr>
                        <a:t>) fuegos </a:t>
                      </a:r>
                      <a:r>
                        <a:rPr lang="es-CL" sz="1600" dirty="0" err="1">
                          <a:effectLst/>
                        </a:rPr>
                        <a:t>articiales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花粉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kafun</a:t>
                      </a:r>
                      <a:r>
                        <a:rPr lang="es-CL" sz="1600" dirty="0">
                          <a:effectLst/>
                        </a:rPr>
                        <a:t>) polen</a:t>
                      </a:r>
                    </a:p>
                    <a:p>
                      <a:pPr>
                        <a:buNone/>
                      </a:pP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711955"/>
                  </a:ext>
                </a:extLst>
              </a:tr>
              <a:tr h="102384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見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ver</a:t>
                      </a:r>
                    </a:p>
                  </a:txBody>
                  <a:tcPr marL="13331" marR="13331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見る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miru</a:t>
                      </a:r>
                      <a:r>
                        <a:rPr lang="es-CL" sz="1600">
                          <a:effectLst/>
                        </a:rPr>
                        <a:t>) ver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見える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mieru</a:t>
                      </a:r>
                      <a:r>
                        <a:rPr lang="es-CL" sz="1600">
                          <a:effectLst/>
                        </a:rPr>
                        <a:t>) verse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見せる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miseru</a:t>
                      </a:r>
                      <a:r>
                        <a:rPr lang="es-CL" sz="1600">
                          <a:effectLst/>
                        </a:rPr>
                        <a:t>) mostrar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意見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iken</a:t>
                      </a:r>
                      <a:r>
                        <a:rPr lang="es-CL" sz="1600">
                          <a:effectLst/>
                        </a:rPr>
                        <a:t>) opinión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07680"/>
                  </a:ext>
                </a:extLst>
              </a:tr>
              <a:tr h="83187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言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palabras</a:t>
                      </a:r>
                    </a:p>
                  </a:txBody>
                  <a:tcPr marL="13331" marR="13331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言う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iu</a:t>
                      </a:r>
                      <a:r>
                        <a:rPr lang="es-CL" sz="1600" dirty="0">
                          <a:effectLst/>
                        </a:rPr>
                        <a:t>) decir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言葉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kotoba</a:t>
                      </a:r>
                      <a:r>
                        <a:rPr lang="es-CL" sz="1600" dirty="0">
                          <a:effectLst/>
                        </a:rPr>
                        <a:t>) palabra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一言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hitokoto</a:t>
                      </a:r>
                      <a:r>
                        <a:rPr lang="es-CL" sz="1600" dirty="0">
                          <a:effectLst/>
                        </a:rPr>
                        <a:t>) una palabra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言い方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īkata</a:t>
                      </a:r>
                      <a:r>
                        <a:rPr lang="es-CL" sz="1600" dirty="0">
                          <a:effectLst/>
                        </a:rPr>
                        <a:t>) modo de hablar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32120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553F11B-D70C-76A1-59A2-7241B3D20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847679"/>
              </p:ext>
            </p:extLst>
          </p:nvPr>
        </p:nvGraphicFramePr>
        <p:xfrm>
          <a:off x="5693249" y="297560"/>
          <a:ext cx="6498752" cy="6158590"/>
        </p:xfrm>
        <a:graphic>
          <a:graphicData uri="http://schemas.openxmlformats.org/drawingml/2006/table">
            <a:tbl>
              <a:tblPr/>
              <a:tblGrid>
                <a:gridCol w="1518400">
                  <a:extLst>
                    <a:ext uri="{9D8B030D-6E8A-4147-A177-3AD203B41FA5}">
                      <a16:colId xmlns:a16="http://schemas.microsoft.com/office/drawing/2014/main" val="1485141128"/>
                    </a:ext>
                  </a:extLst>
                </a:gridCol>
                <a:gridCol w="4980352">
                  <a:extLst>
                    <a:ext uri="{9D8B030D-6E8A-4147-A177-3AD203B41FA5}">
                      <a16:colId xmlns:a16="http://schemas.microsoft.com/office/drawing/2014/main" val="2146794780"/>
                    </a:ext>
                  </a:extLst>
                </a:gridCol>
              </a:tblGrid>
              <a:tr h="61286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走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correr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走る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hashiru</a:t>
                      </a:r>
                      <a:r>
                        <a:rPr lang="es-CL" sz="1600" dirty="0">
                          <a:effectLst/>
                        </a:rPr>
                        <a:t>) correr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走り回る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hashirimawaru</a:t>
                      </a:r>
                      <a:r>
                        <a:rPr lang="es-CL" sz="1600" dirty="0">
                          <a:effectLst/>
                        </a:rPr>
                        <a:t>) dar vueltas corriendo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508388"/>
                  </a:ext>
                </a:extLst>
              </a:tr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足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pierna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足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ashi</a:t>
                      </a:r>
                      <a:r>
                        <a:rPr lang="es-CL" sz="1600">
                          <a:effectLst/>
                        </a:rPr>
                        <a:t>) pie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足りる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tariru</a:t>
                      </a:r>
                      <a:r>
                        <a:rPr lang="es-CL" sz="1600">
                          <a:effectLst/>
                        </a:rPr>
                        <a:t>) bastar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満足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manzoku</a:t>
                      </a:r>
                      <a:r>
                        <a:rPr lang="es-CL" sz="1600">
                          <a:effectLst/>
                        </a:rPr>
                        <a:t>) satisfacción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不足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fusoku</a:t>
                      </a:r>
                      <a:r>
                        <a:rPr lang="es-CL" sz="1600">
                          <a:effectLst/>
                        </a:rPr>
                        <a:t>) insuficiencia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93367"/>
                  </a:ext>
                </a:extLst>
              </a:tr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身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cuerpo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身 </a:t>
                      </a:r>
                      <a:r>
                        <a:rPr lang="es-CL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mi</a:t>
                      </a:r>
                      <a:r>
                        <a:rPr lang="es-CL" sz="1600">
                          <a:effectLst/>
                        </a:rPr>
                        <a:t>) cuerpo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自分自身 </a:t>
                      </a:r>
                      <a:r>
                        <a:rPr lang="es-CL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jibunjishin</a:t>
                      </a:r>
                      <a:r>
                        <a:rPr lang="es-CL" sz="1600">
                          <a:effectLst/>
                        </a:rPr>
                        <a:t>) uno mismo solo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身近 </a:t>
                      </a:r>
                      <a:r>
                        <a:rPr lang="es-CL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midika</a:t>
                      </a:r>
                      <a:r>
                        <a:rPr lang="es-CL" sz="1600">
                          <a:effectLst/>
                        </a:rPr>
                        <a:t>) familiar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身体 </a:t>
                      </a:r>
                      <a:r>
                        <a:rPr lang="es-CL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karada</a:t>
                      </a:r>
                      <a:r>
                        <a:rPr lang="es-CL" sz="1600">
                          <a:effectLst/>
                        </a:rPr>
                        <a:t>) cuerpo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85989"/>
                  </a:ext>
                </a:extLst>
              </a:tr>
              <a:tr h="98058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近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cerca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最近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saikin</a:t>
                      </a:r>
                      <a:r>
                        <a:rPr lang="es-CL" sz="1600">
                          <a:effectLst/>
                        </a:rPr>
                        <a:t>) lo más reciente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近く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chikaku</a:t>
                      </a:r>
                      <a:r>
                        <a:rPr lang="es-CL" sz="1600">
                          <a:effectLst/>
                        </a:rPr>
                        <a:t>) cerca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近い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chikai</a:t>
                      </a:r>
                      <a:r>
                        <a:rPr lang="es-CL" sz="1600">
                          <a:effectLst/>
                        </a:rPr>
                        <a:t>) cerca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近所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kinjo</a:t>
                      </a:r>
                      <a:r>
                        <a:rPr lang="es-CL" sz="1600">
                          <a:effectLst/>
                        </a:rPr>
                        <a:t>) vecindario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11677"/>
                  </a:ext>
                </a:extLst>
              </a:tr>
              <a:tr h="79672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事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cosa</a:t>
                      </a:r>
                    </a:p>
                  </a:txBody>
                  <a:tcPr marL="12768" marR="12768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koto</a:t>
                      </a:r>
                      <a:r>
                        <a:rPr lang="es-CL" sz="1600" dirty="0">
                          <a:effectLst/>
                        </a:rPr>
                        <a:t>) cosa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仕事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shigoto</a:t>
                      </a:r>
                      <a:r>
                        <a:rPr lang="es-CL" sz="1600" dirty="0">
                          <a:effectLst/>
                        </a:rPr>
                        <a:t>) trabajo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大事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daiji</a:t>
                      </a:r>
                      <a:r>
                        <a:rPr lang="es-CL" sz="1600" dirty="0">
                          <a:effectLst/>
                        </a:rPr>
                        <a:t>) importante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事件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jiken</a:t>
                      </a:r>
                      <a:r>
                        <a:rPr lang="es-CL" sz="1600" dirty="0">
                          <a:effectLst/>
                        </a:rPr>
                        <a:t>) incidente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41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62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C36A9-B9A7-B0CE-2050-28AD8E402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EF324CE-F9EC-69AA-23A7-D70C31D17959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912FCB4-D345-FD39-7B00-D4DCDB8B2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66813"/>
              </p:ext>
            </p:extLst>
          </p:nvPr>
        </p:nvGraphicFramePr>
        <p:xfrm>
          <a:off x="0" y="297560"/>
          <a:ext cx="6498751" cy="6134710"/>
        </p:xfrm>
        <a:graphic>
          <a:graphicData uri="http://schemas.openxmlformats.org/drawingml/2006/table">
            <a:tbl>
              <a:tblPr/>
              <a:tblGrid>
                <a:gridCol w="1518400">
                  <a:extLst>
                    <a:ext uri="{9D8B030D-6E8A-4147-A177-3AD203B41FA5}">
                      <a16:colId xmlns:a16="http://schemas.microsoft.com/office/drawing/2014/main" val="2449229352"/>
                    </a:ext>
                  </a:extLst>
                </a:gridCol>
                <a:gridCol w="4980351">
                  <a:extLst>
                    <a:ext uri="{9D8B030D-6E8A-4147-A177-3AD203B41FA5}">
                      <a16:colId xmlns:a16="http://schemas.microsoft.com/office/drawing/2014/main" val="2705082817"/>
                    </a:ext>
                  </a:extLst>
                </a:gridCol>
              </a:tblGrid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使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usar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使う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tsukau</a:t>
                      </a:r>
                      <a:r>
                        <a:rPr lang="es-CL" sz="1600">
                          <a:effectLst/>
                        </a:rPr>
                        <a:t>) usar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使用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shiyō</a:t>
                      </a:r>
                      <a:r>
                        <a:rPr lang="es-CL" sz="1600">
                          <a:effectLst/>
                        </a:rPr>
                        <a:t>) uso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使い方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tsukaikata</a:t>
                      </a:r>
                      <a:r>
                        <a:rPr lang="es-CL" sz="1600">
                          <a:effectLst/>
                        </a:rPr>
                        <a:t>) forma de usar algo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行使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kōshi</a:t>
                      </a:r>
                      <a:r>
                        <a:rPr lang="es-CL" sz="1600">
                          <a:effectLst/>
                        </a:rPr>
                        <a:t>) uso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8458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取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tomar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取る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toru</a:t>
                      </a:r>
                      <a:r>
                        <a:rPr lang="es-CL" sz="1600">
                          <a:effectLst/>
                        </a:rPr>
                        <a:t>) tomar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取り敢えず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toriaezu</a:t>
                      </a:r>
                      <a:r>
                        <a:rPr lang="es-CL" sz="1600">
                          <a:effectLst/>
                        </a:rPr>
                        <a:t>) en seguida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取れる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toreru</a:t>
                      </a:r>
                      <a:r>
                        <a:rPr lang="es-CL" sz="1600">
                          <a:effectLst/>
                        </a:rPr>
                        <a:t>) sacarse de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取り上げる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toriageru</a:t>
                      </a:r>
                      <a:r>
                        <a:rPr lang="es-CL" sz="1600">
                          <a:effectLst/>
                        </a:rPr>
                        <a:t>) recoger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572091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味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sabor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意味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imi</a:t>
                      </a:r>
                      <a:r>
                        <a:rPr lang="es-CL" sz="1600" dirty="0">
                          <a:effectLst/>
                        </a:rPr>
                        <a:t>) significado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興味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kyōmi</a:t>
                      </a:r>
                      <a:r>
                        <a:rPr lang="es-CL" sz="1600" dirty="0">
                          <a:effectLst/>
                        </a:rPr>
                        <a:t>) interés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味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aji</a:t>
                      </a:r>
                      <a:r>
                        <a:rPr lang="es-CL" sz="1600" dirty="0">
                          <a:effectLst/>
                        </a:rPr>
                        <a:t>) sabor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趣味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shumi</a:t>
                      </a:r>
                      <a:r>
                        <a:rPr lang="es-CL" sz="1600" dirty="0">
                          <a:effectLst/>
                        </a:rPr>
                        <a:t>) hobby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787691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命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orden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一生懸命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isshōkenmei</a:t>
                      </a:r>
                      <a:r>
                        <a:rPr lang="es-CL" sz="1600" dirty="0">
                          <a:effectLst/>
                        </a:rPr>
                        <a:t>) con todo el esfuerzo posible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命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inochi</a:t>
                      </a:r>
                      <a:r>
                        <a:rPr lang="es-CL" sz="1600" dirty="0">
                          <a:effectLst/>
                        </a:rPr>
                        <a:t>) vida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命ずる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meizuru</a:t>
                      </a:r>
                      <a:r>
                        <a:rPr lang="es-CL" sz="1600" dirty="0">
                          <a:effectLst/>
                        </a:rPr>
                        <a:t>) nombrar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生命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seimei</a:t>
                      </a:r>
                      <a:r>
                        <a:rPr lang="es-CL" sz="1600" dirty="0">
                          <a:effectLst/>
                        </a:rPr>
                        <a:t>) vida</a:t>
                      </a:r>
                      <a:br>
                        <a:rPr lang="es-CL" sz="1600" dirty="0">
                          <a:effectLst/>
                        </a:rPr>
                      </a:br>
                      <a:endParaRPr lang="es-CL" sz="1600" dirty="0">
                        <a:effectLst/>
                      </a:endParaRP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193807"/>
                  </a:ext>
                </a:extLst>
              </a:tr>
              <a:tr h="73464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国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país</a:t>
                      </a:r>
                    </a:p>
                  </a:txBody>
                  <a:tcPr marL="11773" marR="11773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国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kuni</a:t>
                      </a:r>
                      <a:r>
                        <a:rPr lang="es-CL" sz="1600" dirty="0">
                          <a:effectLst/>
                        </a:rPr>
                        <a:t>) país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国民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kokumin</a:t>
                      </a:r>
                      <a:r>
                        <a:rPr lang="es-CL" sz="1600" dirty="0">
                          <a:effectLst/>
                        </a:rPr>
                        <a:t>) nación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全国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zenkoku</a:t>
                      </a:r>
                      <a:r>
                        <a:rPr lang="es-CL" sz="1600" dirty="0">
                          <a:effectLst/>
                        </a:rPr>
                        <a:t>) nacionalmente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韓国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kankoku</a:t>
                      </a:r>
                      <a:r>
                        <a:rPr lang="es-CL" sz="1600" dirty="0">
                          <a:effectLst/>
                        </a:rPr>
                        <a:t>) Corea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045803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F6E3126-6A30-106A-D435-CECD54BE4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243548"/>
              </p:ext>
            </p:extLst>
          </p:nvPr>
        </p:nvGraphicFramePr>
        <p:xfrm>
          <a:off x="6375541" y="297560"/>
          <a:ext cx="5816459" cy="6146170"/>
        </p:xfrm>
        <a:graphic>
          <a:graphicData uri="http://schemas.openxmlformats.org/drawingml/2006/table">
            <a:tbl>
              <a:tblPr/>
              <a:tblGrid>
                <a:gridCol w="1358986">
                  <a:extLst>
                    <a:ext uri="{9D8B030D-6E8A-4147-A177-3AD203B41FA5}">
                      <a16:colId xmlns:a16="http://schemas.microsoft.com/office/drawing/2014/main" val="3077903402"/>
                    </a:ext>
                  </a:extLst>
                </a:gridCol>
                <a:gridCol w="4457473">
                  <a:extLst>
                    <a:ext uri="{9D8B030D-6E8A-4147-A177-3AD203B41FA5}">
                      <a16:colId xmlns:a16="http://schemas.microsoft.com/office/drawing/2014/main" val="1674885520"/>
                    </a:ext>
                  </a:extLst>
                </a:gridCol>
              </a:tblGrid>
              <a:tr h="94083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夜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noche</a:t>
                      </a:r>
                    </a:p>
                  </a:txBody>
                  <a:tcPr marL="12250" marR="12250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夜 </a:t>
                      </a:r>
                      <a:r>
                        <a:rPr lang="es-CL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yoru</a:t>
                      </a:r>
                      <a:r>
                        <a:rPr lang="es-CL" sz="1600">
                          <a:effectLst/>
                        </a:rPr>
                        <a:t>) tarde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夜中 </a:t>
                      </a:r>
                      <a:r>
                        <a:rPr lang="es-CL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yonaka</a:t>
                      </a:r>
                      <a:r>
                        <a:rPr lang="es-CL" sz="1600">
                          <a:effectLst/>
                        </a:rPr>
                        <a:t>) medianoche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今夜 </a:t>
                      </a:r>
                      <a:r>
                        <a:rPr lang="es-CL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kon’ya</a:t>
                      </a:r>
                      <a:r>
                        <a:rPr lang="es-CL" sz="1600">
                          <a:effectLst/>
                        </a:rPr>
                        <a:t>) esta noche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深夜 </a:t>
                      </a:r>
                      <a:r>
                        <a:rPr lang="es-CL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shin’ya</a:t>
                      </a:r>
                      <a:r>
                        <a:rPr lang="es-CL" sz="1600">
                          <a:effectLst/>
                        </a:rPr>
                        <a:t>) tarde por la noche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776324"/>
                  </a:ext>
                </a:extLst>
              </a:tr>
              <a:tr h="94083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始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comenzar</a:t>
                      </a:r>
                    </a:p>
                  </a:txBody>
                  <a:tcPr marL="12250" marR="12250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始める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hajimeru</a:t>
                      </a:r>
                      <a:r>
                        <a:rPr lang="es-CL" sz="1600">
                          <a:effectLst/>
                        </a:rPr>
                        <a:t>) empezar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始まる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hajimaru</a:t>
                      </a:r>
                      <a:r>
                        <a:rPr lang="es-CL" sz="1600">
                          <a:effectLst/>
                        </a:rPr>
                        <a:t>) comenzar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始め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hajime</a:t>
                      </a:r>
                      <a:r>
                        <a:rPr lang="es-CL" sz="1600">
                          <a:effectLst/>
                        </a:rPr>
                        <a:t>) origen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開始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kaishi</a:t>
                      </a:r>
                      <a:r>
                        <a:rPr lang="es-CL" sz="1600">
                          <a:effectLst/>
                        </a:rPr>
                        <a:t>) principio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952677"/>
                  </a:ext>
                </a:extLst>
              </a:tr>
              <a:tr h="94083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学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estudio</a:t>
                      </a:r>
                    </a:p>
                  </a:txBody>
                  <a:tcPr marL="12250" marR="12250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学校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gakkō</a:t>
                      </a:r>
                      <a:r>
                        <a:rPr lang="es-CL" sz="1600">
                          <a:effectLst/>
                        </a:rPr>
                        <a:t>) escuela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大学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daigaku</a:t>
                      </a:r>
                      <a:r>
                        <a:rPr lang="es-CL" sz="1600">
                          <a:effectLst/>
                        </a:rPr>
                        <a:t>) universidad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学ぶ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manabu</a:t>
                      </a:r>
                      <a:r>
                        <a:rPr lang="es-CL" sz="1600">
                          <a:effectLst/>
                        </a:rPr>
                        <a:t>) aprender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学生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gakusei</a:t>
                      </a:r>
                      <a:r>
                        <a:rPr lang="es-CL" sz="1600">
                          <a:effectLst/>
                        </a:rPr>
                        <a:t>) estudiante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007097"/>
                  </a:ext>
                </a:extLst>
              </a:tr>
              <a:tr h="94083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実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realidad</a:t>
                      </a:r>
                    </a:p>
                  </a:txBody>
                  <a:tcPr marL="12250" marR="12250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実際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jissai</a:t>
                      </a:r>
                      <a:r>
                        <a:rPr lang="es-CL" sz="1600">
                          <a:effectLst/>
                        </a:rPr>
                        <a:t>) en realidad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実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jitsu</a:t>
                      </a:r>
                      <a:r>
                        <a:rPr lang="es-CL" sz="1600">
                          <a:effectLst/>
                        </a:rPr>
                        <a:t>) la verdad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実施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jisshi</a:t>
                      </a:r>
                      <a:r>
                        <a:rPr lang="es-CL" sz="1600">
                          <a:effectLst/>
                        </a:rPr>
                        <a:t>) práctica</a:t>
                      </a:r>
                      <a:br>
                        <a:rPr lang="es-CL" sz="1600">
                          <a:effectLst/>
                        </a:rPr>
                      </a:br>
                      <a:r>
                        <a:rPr lang="ja-JP" altLang="es-CL" sz="1600">
                          <a:effectLst/>
                          <a:ea typeface="Klee One" pitchFamily="2" charset="-128"/>
                        </a:rPr>
                        <a:t>事実 </a:t>
                      </a:r>
                      <a:r>
                        <a:rPr lang="es-CL" altLang="ja-JP" sz="1600">
                          <a:effectLst/>
                        </a:rPr>
                        <a:t>(</a:t>
                      </a:r>
                      <a:r>
                        <a:rPr lang="es-CL" sz="1600" b="1">
                          <a:effectLst/>
                        </a:rPr>
                        <a:t>jijitsu</a:t>
                      </a:r>
                      <a:r>
                        <a:rPr lang="es-CL" sz="1600">
                          <a:effectLst/>
                        </a:rPr>
                        <a:t>) hecho</a:t>
                      </a:r>
                      <a:br>
                        <a:rPr lang="es-CL" sz="1600">
                          <a:effectLst/>
                        </a:rPr>
                      </a:br>
                      <a:endParaRPr lang="es-CL" sz="16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993013"/>
                  </a:ext>
                </a:extLst>
              </a:tr>
              <a:tr h="58801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ja-JP" altLang="es-CL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届</a:t>
                      </a:r>
                      <a:endParaRPr lang="ja-JP" altLang="es-CL" sz="4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s-CL" sz="1600" dirty="0">
                          <a:effectLst/>
                        </a:rPr>
                        <a:t>alcanzar</a:t>
                      </a:r>
                    </a:p>
                  </a:txBody>
                  <a:tcPr marL="12250" marR="12250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届く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todoku</a:t>
                      </a:r>
                      <a:r>
                        <a:rPr lang="es-CL" sz="1600" dirty="0">
                          <a:effectLst/>
                        </a:rPr>
                        <a:t>) alcanzar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届ける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todokeru</a:t>
                      </a:r>
                      <a:r>
                        <a:rPr lang="es-CL" sz="1600" dirty="0">
                          <a:effectLst/>
                        </a:rPr>
                        <a:t>) enviar</a:t>
                      </a:r>
                      <a:br>
                        <a:rPr lang="es-CL" sz="1600" dirty="0">
                          <a:effectLst/>
                        </a:rPr>
                      </a:br>
                      <a:r>
                        <a:rPr lang="ja-JP" altLang="es-CL" sz="1600" dirty="0">
                          <a:effectLst/>
                          <a:ea typeface="Klee One" pitchFamily="2" charset="-128"/>
                        </a:rPr>
                        <a:t>届け出 </a:t>
                      </a:r>
                      <a:r>
                        <a:rPr lang="es-CL" altLang="ja-JP" sz="1600" dirty="0">
                          <a:effectLst/>
                        </a:rPr>
                        <a:t>(</a:t>
                      </a:r>
                      <a:r>
                        <a:rPr lang="es-CL" sz="1600" b="1" dirty="0" err="1">
                          <a:effectLst/>
                        </a:rPr>
                        <a:t>todokede</a:t>
                      </a:r>
                      <a:r>
                        <a:rPr lang="es-CL" sz="1600" dirty="0">
                          <a:effectLst/>
                        </a:rPr>
                        <a:t>) notificación</a:t>
                      </a:r>
                    </a:p>
                    <a:p>
                      <a:pPr>
                        <a:buNone/>
                      </a:pPr>
                      <a:endParaRPr lang="es-CL" sz="1600" dirty="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300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540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424DE-975C-9BA8-AE1B-5A099BAC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F830ED-3813-3630-3693-66D70A353FF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725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343B0-75E7-96ED-55A5-F7FC3743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DCBB46A-F42C-1D5C-B641-FEEE1E93B6F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040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D0652-F35C-CE28-678D-803FA54B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BA106B4-B948-D27E-BCB4-D3233FD676D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5922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4322</TotalTime>
  <Words>2434</Words>
  <Application>Microsoft Office PowerPoint</Application>
  <PresentationFormat>Panorámica</PresentationFormat>
  <Paragraphs>270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Klee One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Ignacio Silva Castillo</dc:creator>
  <cp:lastModifiedBy>Rene Ignacio Silva Castillo</cp:lastModifiedBy>
  <cp:revision>16</cp:revision>
  <cp:lastPrinted>2025-11-19T17:04:03Z</cp:lastPrinted>
  <dcterms:created xsi:type="dcterms:W3CDTF">2025-10-19T16:02:48Z</dcterms:created>
  <dcterms:modified xsi:type="dcterms:W3CDTF">2025-11-26T18:42:05Z</dcterms:modified>
</cp:coreProperties>
</file>